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 id="2147483700" r:id="rId5"/>
  </p:sldMasterIdLst>
  <p:notesMasterIdLst>
    <p:notesMasterId r:id="rId32"/>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19"/>
    <p:sldId id="269" r:id="rId18"/>
    <p:sldId id="270" r:id="rId17"/>
    <p:sldId id="271" r:id="rId16"/>
    <p:sldId id="272" r:id="rId15"/>
  </p:sldIdLst>
  <p:sldSz cx="12192000" cy="6858000"/>
  <p:notesSz cx="7559675" cy="10691813"/>
  <p:embeddedFontLst>
    <p:embeddedFont>
      <p:font typeface="Calibri" panose="020F0502020204030204" pitchFamily="34" charset="0"/>
      <p:regular r:id="rId33"/>
      <p:bold r:id="rId34"/>
      <p:italic r:id="rId35"/>
      <p:boldItalic r:id="rId36"/>
    </p:embeddedFont>
    <p:embeddedFont>
      <p:font typeface="Lato"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gXQraAuAWRmcV1gLDXp1oObC+v3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BF76A3-E3C1-4D28-9EA3-6F8B04578915}">
  <a:tblStyle styleId="{A0BF76A3-E3C1-4D28-9EA3-6F8B04578915}"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67" autoAdjust="0"/>
  </p:normalViewPr>
  <p:slideViewPr>
    <p:cSldViewPr snapToGrid="0">
      <p:cViewPr varScale="1">
        <p:scale>
          <a:sx n="89" d="100"/>
          <a:sy n="89" d="100"/>
        </p:scale>
        <p:origin x="1398" y="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15" Type="http://schemas.openxmlformats.org/officeDocument/2006/relationships/slide" Target="slides/slide17.xml"/><Relationship Id="rId16" Type="http://schemas.openxmlformats.org/officeDocument/2006/relationships/slide" Target="slides/slide16.xml"/><Relationship Id="rId17" Type="http://schemas.openxmlformats.org/officeDocument/2006/relationships/slide" Target="slides/slide15.xml"/><Relationship Id="rId18" Type="http://schemas.openxmlformats.org/officeDocument/2006/relationships/slide" Target="slides/slide14.xml"/><Relationship Id="rId19" Type="http://schemas.openxmlformats.org/officeDocument/2006/relationships/slide" Target="slides/slide13.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customschemas.google.com/relationships/presentationmetadata" Target="meta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0B2E63"/>
                </a:solidFill>
                <a:latin typeface="Calibri"/>
              </a:rPr>
              <a:t>Expected net value, same $3,500 budget (test)</a:t>
            </a:r>
          </a:p>
        </c:rich>
      </c:tx>
      <c:layout/>
      <c:overlay val="0"/>
    </c:title>
    <c:autoTitleDeleted val="0"/>
    <c:plotArea>
      <c:barChart>
        <c:barDir val="bar"/>
        <c:grouping val="clustered"/>
        <c:ser>
          <c:idx val="0"/>
          <c:order val="0"/>
          <c:tx>
            <c:strRef>
              <c:f>Sheet1!$B$1</c:f>
              <c:strCache>
                <c:ptCount val="1"/>
                <c:pt idx="0">
                  <c:v>Expected net value</c:v>
                </c:pt>
              </c:strCache>
            </c:strRef>
          </c:tx>
          <c:invertIfNegative val="0"/>
          <c:dPt>
            <c:idx val="0"/>
            <c:invertIfNegative val="0"/>
            <c:spPr>
              <a:solidFill>
                <a:srgbClr val="BE1E2D"/>
              </a:solidFill>
            </c:spPr>
          </c:dPt>
          <c:dPt>
            <c:idx val="1"/>
            <c:invertIfNegative val="0"/>
            <c:spPr>
              <a:solidFill>
                <a:srgbClr val="BE1E2D"/>
              </a:solidFill>
            </c:spPr>
          </c:dPt>
          <c:dPt>
            <c:idx val="2"/>
            <c:invertIfNegative val="0"/>
            <c:spPr>
              <a:solidFill>
                <a:srgbClr val="6B7280"/>
              </a:solidFill>
            </c:spPr>
          </c:dPt>
          <c:dPt>
            <c:idx val="3"/>
            <c:invertIfNegative val="0"/>
            <c:spPr>
              <a:solidFill>
                <a:srgbClr val="0B2E63"/>
              </a:solidFill>
            </c:spPr>
          </c:dPt>
          <c:dPt>
            <c:idx val="4"/>
            <c:invertIfNegative val="0"/>
            <c:spPr>
              <a:solidFill>
                <a:srgbClr val="0B2E63"/>
              </a:solidFill>
            </c:spPr>
          </c:dPt>
          <c:cat>
            <c:strRef>
              <c:f>Sheet1!$A$2:$A$6</c:f>
              <c:strCache>
                <c:ptCount val="5"/>
                <c:pt idx="0">
                  <c:v>Random contact</c:v>
                </c:pt>
                <c:pt idx="1">
                  <c:v>Highest value</c:v>
                </c:pt>
                <c:pt idx="2">
                  <c:v>Highest risk (today)</c:v>
                </c:pt>
                <c:pt idx="3">
                  <c:v>EV, one offer</c:v>
                </c:pt>
                <c:pt idx="4">
                  <c:v>EV + segment offers</c:v>
                </c:pt>
              </c:strCache>
            </c:strRef>
          </c:cat>
          <c:val>
            <c:numRef>
              <c:f>Sheet1!$B$2:$B$6</c:f>
              <c:numCache>
                <c:formatCode>General</c:formatCode>
                <c:ptCount val="5"/>
                <c:pt idx="0">
                  <c:v>-1645</c:v>
                </c:pt>
                <c:pt idx="1">
                  <c:v>-1037</c:v>
                </c:pt>
                <c:pt idx="2">
                  <c:v>1301</c:v>
                </c:pt>
                <c:pt idx="3">
                  <c:v>2340</c:v>
                </c:pt>
                <c:pt idx="4">
                  <c:v>2668</c:v>
                </c:pt>
              </c:numCache>
            </c:numRef>
          </c:val>
        </c:ser>
        <c:dLbls>
          <c:numFmt formatCode="$#,##0;-$#,##0" sourceLinked="0"/>
          <c:txPr>
            <a:bodyPr/>
            <a:lstStyle/>
            <a:p>
              <a:pPr>
                <a:defRPr sz="1300" b="1">
                  <a:solidFill>
                    <a:srgbClr val="1F2937"/>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low"/>
        <c:spPr>
          <a:ln>
            <a:solidFill>
              <a:srgbClr val="6B7280"/>
            </a:solidFill>
          </a:ln>
        </c:spPr>
        <c:txPr>
          <a:bodyPr/>
          <a:lstStyle/>
          <a:p>
            <a:pPr>
              <a:defRPr sz="1300">
                <a:solidFill>
                  <a:srgbClr val="1F2937"/>
                </a:solidFill>
                <a:latin typeface="Calibri"/>
              </a:defRPr>
            </a:pPr>
          </a:p>
        </c:txPr>
        <c:crossAx val="-2113994440"/>
        <c:crosses val="autoZero"/>
        <c:auto val="1"/>
        <c:lblAlgn val="ctr"/>
        <c:lblOffset val="100"/>
        <c:noMultiLvlLbl val="0"/>
      </c:catAx>
      <c:valAx>
        <c:axId val="-2113994440"/>
        <c:scaling>
          <c:max val="3468.6642764319263"/>
          <c:min val="-3124.5847173685015"/>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0:00-0:15 | 15 s]</a:t>
            </a:r>
          </a:p>
          <a:p>
            <a:r>
              <a:t>Good morning, Professor, and everyone. We are Group 1, presenting Topic 7: profit-aware telecom churn and retention targeting. Hieu, Dung and I will present, and Phong will demo our dashboard at the end.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0:15-0:25 | 10 s]</a:t>
            </a:r>
          </a:p>
          <a:p>
            <a:r>
              <a:t>We follow CRISP-DM: the business problem and the data, then the model and the decision rule, then results and robustness, and finally our recommendation.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0:25-1:15 | 50 s]</a:t>
            </a:r>
          </a:p>
          <a:p>
            <a:r>
              <a:t>In our sample company 26.5% of customers left, which puts about $468,468 of twelve-month margin at risk. The retention team has a fixed budget, and today it calls the customers with the highest churn risk. But every offer costs money, and a risky customer with a small bill may not be worth saving. So our question is: with a limited budget, who should receive an offer when both risk and value count? Our answer is to score each customer and offer by expected value: churn probability, times the save rate, the share of would-be leavers an offer keeps, times customer value, minus the cost. We contact a customer only when it is positive.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1:15-2:00 | 45 s]</a:t>
            </a:r>
          </a:p>
          <a:p>
            <a:r>
              <a:t>We use the IBM Telco Customer Churn sample from Kaggle: 7,043 customers of a fictional US operator. The unit of analysis is the customer, the target is churn, and the decision is whether to make an offer, and which one, within the budget. Quality checks found no duplicates and only 11 blank total charges, all for brand-new customers, which we set to zero. The data is one snapshot without dates, so we used a stratified 60/20/20 split: every choice is made on validation, and the test set is used once. To avoid leakage we excluded churn reasons and IBM's churn score, which are known only after a customer leaves.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[Kiet | 2:00-2:40 | 40 s]</a:t>
            </a:r>
          </a:p>
          <a:p>
            <a:r>
              <a:t>The exploratory analysis gave us our key insight. Churn is highest for month-to-month contracts, new customers, fibre internet and electronic-check payers. But risk and value only partly overlap. The high-risk, low-value group holds 46% of the value at risk, yet each of these customers is worth little. Only 57 test customers are both high-risk and high-value, and today's risk-only rule reaches just 12% of them. So ranking by risk alone spends the budget in the wrong place. Hieu will now show how we fix that.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2:40-2:45 | 5 s]</a:t>
            </a:r>
          </a:p>
          <a:p>
            <a:r>
              <a:t>Thank you, Kiet. I will start with the churn model.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2:45-3:35 | 50 s]</a:t>
            </a:r>
          </a:p>
          <a:p>
            <a:r>
              <a:t>We compared three model families: logistic regression as the baseline, a random forest as the required tree model, and XGBoost. Each was tuned with five-fold cross-validation and calibrated. On the untouched test set they rank customers almost equally well, so, by a rule we fixed in advance, we deploy the simplest: calibrated logistic regression. Its ROC-AUC is 0.83 and its PR-AUC 0.62, against 0.27 for a model that knows nothing. Calibration is essential here, because we multiply the probability by money: the calibration error is only 0.019. The strongest drivers are month-to-month contracts, which multiply the odds of churn by about 3.7, and fibre internet; longer tenure lowers the risk.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3:35-4:30 | 55 s]</a:t>
            </a:r>
          </a:p>
          <a:p>
            <a:r>
              <a:t>Next we turn a probability into a decision. The expected value of an offer is the churn probability, times the save rate, times the customer's value, minus the offer and contact cost. Customer value is the monthly bill times a 30% margin over a discounted twelve-month horizon, longer for loyal customers and shorter for new ones. We defined a small catalogue of offers, for example a $35 credit for moving to a one-year contract, or six months of free tech support. An integer program then chooses which customers get which offer to maximise total expected value within the budget, with one offer per customer, eligibility rules and a contact cap. The save rates are assumptions, not measurements, and we treat them that way.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[Hieu | 4:30-5:20 | 50 s]</a:t>
            </a:r>
          </a:p>
          <a:p>
            <a:r>
              <a:t>Here is the result on the 1,409 test customers, all with the same $3,500 budget. Calling random customers, or the most valuable ones, loses money, because most of them would have stayed anyway. Today's highest-risk rule earns about $1,301. Expected-value targeting with segment offers earns $2,668: that is $1,368 more for the same spend, $1,039 from choosing better customers and $328 from matching offers. When we revalue the lists with customers' actual churn, the gain is still positive, with a 95% interval from $229 to $2,002. Dung will now explain how much to spend and how sure we are.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5:20-5:25 | 5 s]</a:t>
            </a:r>
          </a:p>
          <a:p>
            <a:r>
              <a:t>Thanks, Hieu. Let me turn to the budget and to risk.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5:25-6:05 | 40 s]</a:t>
            </a:r>
          </a:p>
          <a:p>
            <a:r>
              <a:t>How big should the budget be? Each extra step of budget returns less. Our rule, fixed on validation data, keeps adding budget only while the last step still returns at least 10%. That gives enough budget for the standard offer to 26% of customers. On the test customers this buys 324 offers for $9,150, with an expected net value of $4,145. For the whole base of 7,043 customers that is about $45,737, or $6.49 per customer. The rule stops a little before the point where no customer has a positive expected value, because the last steps barely pay for themselves.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6:05-6:55 | 50 s]</a:t>
            </a:r>
          </a:p>
          <a:p>
            <a:r>
              <a:t>How sure are we? We varied every assumption one at a time, and then all of them at once in 5,000 Monte Carlo draws. In 99.96% of the draws, expected-value targeting beats the risk-only rule: who to target is robust. How much an offer saves is not. The recommended list breaks even if the standard offer saves 13.8% of would-be leavers, while we assumed 20%, and it loses money in 17% of the draws. IBM's churn reasons add a warning: only 46% of churners left for price or a competitor, which an offer can address. Finally, our fairness audit shows that seniors are contacted 3.3 times as often as other customers, partly because of higher risk and partly because of higher bills, so every wave is reviewed.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6:55-7:45 | 50 s]</a:t>
            </a:r>
          </a:p>
          <a:p>
            <a:r>
              <a:t>So our recommendation to the Head of Retention is to adopt expected-value targeting with segment offers, but to launch it as a randomised pilot. One wave of 1,620 customers from the recommended list is split at random: half receive the offer, half are held out. After 90 days we measure the real save rate of this offer mix, which we assume to be 22.6%. The decision rule is agreed now: go if the effect is significant and at least the break-even of 15.6%; stop if it is clearly below. The offered half costs about $22,875, and if our assumption holds, the rule says go 97% of the time. A decision is ready about 19 weeks after approval. Phong will now show our dashboard.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[Phong | live demo before the closing words, not part of the 8-minute talk | full timed steps in demo-script.md]</a:t>
            </a:r>
          </a:p>
          <a:p>
            <a:r>
              <a:t>Short version of reports/presentation/demo-script.md (Streamlit app, default assumptions, held-out test customers):</a:t>
            </a:r>
          </a:p>
          <a:p>
            <a:r>
              <a:t>1. Decision page: read the five KPIs (expected net value $2,668, ROI 76%, 153 customers contacted, precision, high-risk/high-value coverage) and the green recommendation sentence.</a:t>
            </a:r>
          </a:p>
          <a:p>
            <a:r>
              <a:t>2. Scroll to 'Who gets an offer': fibre, month-to-month and bill profile, then the risk x value scatter.</a:t>
            </a:r>
          </a:p>
          <a:p>
            <a:r>
              <a:t>3. Set the budget to 0 and back to $3,500: KPIs and the action list update at once.</a:t>
            </a:r>
          </a:p>
          <a:p>
            <a:r>
              <a:t>4. Action list: search one customer ID, open 'Why is a customer in or out of the list?', then click 'Export campaign' (CSV + assumptions).</a:t>
            </a:r>
          </a:p>
          <a:p>
            <a:r>
              <a:t>5. Assumptions &amp; sensitivity: lower the save rate to 10%; the plan shrinks and the live chance of a loss rises; point at the break-even save rate.</a:t>
            </a:r>
          </a:p>
          <a:p>
            <a:r>
              <a:t>6. Model evidence: performance table and points scorecard; upload data/examples/customers_unlabeled.csv to score new customers.</a:t>
            </a:r>
          </a:p>
          <a:p>
            <a:r>
              <a:t>Hand back: 'That is the tool a retention manager would use for every wave. Back to Dung.'</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7:45-7:55 | 10 s]</a:t>
            </a:r>
          </a:p>
          <a:p>
            <a:r>
              <a:t>Who did what: Kiet led the project and the report, Hieu the decision engine, Phong the data and models, and I these slides.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[Dung | 7:55-8:00 | 5 s]</a:t>
            </a:r>
          </a:p>
          <a:p>
            <a:r>
              <a:t>Thank you for your attention. We are happy to take your questions.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speaker]</a:t>
            </a:r>
          </a:p>
          <a:p>
            <a:r>
              <a:t>Closing slide: leave it on screen during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 name="Google Shape;11;p35"/>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2"/>
        <p:cNvGrpSpPr/>
        <p:nvPr/>
      </p:nvGrpSpPr>
      <p:grpSpPr>
        <a:xfrm>
          <a:off x="0" y="0"/>
          <a:ext cx="0" cy="0"/>
          <a:chOff x="0" y="0"/>
          <a:chExt cx="0" cy="0"/>
        </a:xfrm>
      </p:grpSpPr>
      <p:sp>
        <p:nvSpPr>
          <p:cNvPr id="13" name="Google Shape;13;p3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36"/>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5"/>
        <p:cNvGrpSpPr/>
        <p:nvPr/>
      </p:nvGrpSpPr>
      <p:grpSpPr>
        <a:xfrm>
          <a:off x="0" y="0"/>
          <a:ext cx="0" cy="0"/>
          <a:chOff x="0" y="0"/>
          <a:chExt cx="0" cy="0"/>
        </a:xfrm>
      </p:grpSpPr>
      <p:sp>
        <p:nvSpPr>
          <p:cNvPr id="16" name="Google Shape;16;p3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7"/>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 name="Google Shape;18;p37"/>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
        <p:cNvGrpSpPr/>
        <p:nvPr/>
      </p:nvGrpSpPr>
      <p:grpSpPr>
        <a:xfrm>
          <a:off x="0" y="0"/>
          <a:ext cx="0" cy="0"/>
          <a:chOff x="0" y="0"/>
          <a:chExt cx="0" cy="0"/>
        </a:xfrm>
      </p:grpSpPr>
      <p:sp>
        <p:nvSpPr>
          <p:cNvPr id="20" name="Google Shape;20;p3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1"/>
        <p:cNvGrpSpPr/>
        <p:nvPr/>
      </p:nvGrpSpPr>
      <p:grpSpPr>
        <a:xfrm>
          <a:off x="0" y="0"/>
          <a:ext cx="0" cy="0"/>
          <a:chOff x="0" y="0"/>
          <a:chExt cx="0" cy="0"/>
        </a:xfrm>
      </p:grpSpPr>
      <p:sp>
        <p:nvSpPr>
          <p:cNvPr id="22" name="Google Shape;22;p39"/>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3"/>
        <p:cNvGrpSpPr/>
        <p:nvPr/>
      </p:nvGrpSpPr>
      <p:grpSpPr>
        <a:xfrm>
          <a:off x="0" y="0"/>
          <a:ext cx="0" cy="0"/>
          <a:chOff x="0" y="0"/>
          <a:chExt cx="0" cy="0"/>
        </a:xfrm>
      </p:grpSpPr>
      <p:sp>
        <p:nvSpPr>
          <p:cNvPr id="24" name="Google Shape;24;p4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0"/>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6" name="Google Shape;26;p4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7" name="Google Shape;27;p40"/>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8"/>
        <p:cNvGrpSpPr/>
        <p:nvPr/>
      </p:nvGrpSpPr>
      <p:grpSpPr>
        <a:xfrm>
          <a:off x="0" y="0"/>
          <a:ext cx="0" cy="0"/>
          <a:chOff x="0" y="0"/>
          <a:chExt cx="0" cy="0"/>
        </a:xfrm>
      </p:grpSpPr>
      <p:sp>
        <p:nvSpPr>
          <p:cNvPr id="29" name="Google Shape;29;p4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1" name="Google Shape;31;p41"/>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2" name="Google Shape;32;p41"/>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3"/>
        <p:cNvGrpSpPr/>
        <p:nvPr/>
      </p:nvGrpSpPr>
      <p:grpSpPr>
        <a:xfrm>
          <a:off x="0" y="0"/>
          <a:ext cx="0" cy="0"/>
          <a:chOff x="0" y="0"/>
          <a:chExt cx="0" cy="0"/>
        </a:xfrm>
      </p:grpSpPr>
      <p:sp>
        <p:nvSpPr>
          <p:cNvPr id="34" name="Google Shape;34;p4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4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7" name="Google Shape;37;p42"/>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8"/>
        <p:cNvGrpSpPr/>
        <p:nvPr/>
      </p:nvGrpSpPr>
      <p:grpSpPr>
        <a:xfrm>
          <a:off x="0" y="0"/>
          <a:ext cx="0" cy="0"/>
          <a:chOff x="0" y="0"/>
          <a:chExt cx="0" cy="0"/>
        </a:xfrm>
      </p:grpSpPr>
      <p:sp>
        <p:nvSpPr>
          <p:cNvPr id="39" name="Google Shape;39;p4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3"/>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1" name="Google Shape;41;p43"/>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2"/>
        <p:cNvGrpSpPr/>
        <p:nvPr/>
      </p:nvGrpSpPr>
      <p:grpSpPr>
        <a:xfrm>
          <a:off x="0" y="0"/>
          <a:ext cx="0" cy="0"/>
          <a:chOff x="0" y="0"/>
          <a:chExt cx="0" cy="0"/>
        </a:xfrm>
      </p:grpSpPr>
      <p:sp>
        <p:nvSpPr>
          <p:cNvPr id="43" name="Google Shape;43;p4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5" name="Google Shape;45;p4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6" name="Google Shape;46;p44"/>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7" name="Google Shape;47;p44"/>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48"/>
        <p:cNvGrpSpPr/>
        <p:nvPr/>
      </p:nvGrpSpPr>
      <p:grpSpPr>
        <a:xfrm>
          <a:off x="0" y="0"/>
          <a:ext cx="0" cy="0"/>
          <a:chOff x="0" y="0"/>
          <a:chExt cx="0" cy="0"/>
        </a:xfrm>
      </p:grpSpPr>
      <p:sp>
        <p:nvSpPr>
          <p:cNvPr id="49" name="Google Shape;49;p4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5"/>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1" name="Google Shape;51;p45"/>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2" name="Google Shape;52;p45"/>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3" name="Google Shape;53;p45"/>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4" name="Google Shape;54;p45"/>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5" name="Google Shape;55;p45"/>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60"/>
        <p:cNvGrpSpPr/>
        <p:nvPr/>
      </p:nvGrpSpPr>
      <p:grpSpPr>
        <a:xfrm>
          <a:off x="0" y="0"/>
          <a:ext cx="0" cy="0"/>
          <a:chOff x="0" y="0"/>
          <a:chExt cx="0" cy="0"/>
        </a:xfrm>
      </p:grpSpPr>
      <p:sp>
        <p:nvSpPr>
          <p:cNvPr id="61" name="Google Shape;61;p4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46"/>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63"/>
        <p:cNvGrpSpPr/>
        <p:nvPr/>
      </p:nvGrpSpPr>
      <p:grpSpPr>
        <a:xfrm>
          <a:off x="0" y="0"/>
          <a:ext cx="0" cy="0"/>
          <a:chOff x="0" y="0"/>
          <a:chExt cx="0" cy="0"/>
        </a:xfrm>
      </p:grpSpPr>
      <p:sp>
        <p:nvSpPr>
          <p:cNvPr id="64" name="Google Shape;64;p4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7"/>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66"/>
        <p:cNvGrpSpPr/>
        <p:nvPr/>
      </p:nvGrpSpPr>
      <p:grpSpPr>
        <a:xfrm>
          <a:off x="0" y="0"/>
          <a:ext cx="0" cy="0"/>
          <a:chOff x="0" y="0"/>
          <a:chExt cx="0" cy="0"/>
        </a:xfrm>
      </p:grpSpPr>
      <p:sp>
        <p:nvSpPr>
          <p:cNvPr id="67" name="Google Shape;67;p4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48"/>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9" name="Google Shape;69;p48"/>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4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72"/>
        <p:cNvGrpSpPr/>
        <p:nvPr/>
      </p:nvGrpSpPr>
      <p:grpSpPr>
        <a:xfrm>
          <a:off x="0" y="0"/>
          <a:ext cx="0" cy="0"/>
          <a:chOff x="0" y="0"/>
          <a:chExt cx="0" cy="0"/>
        </a:xfrm>
      </p:grpSpPr>
      <p:sp>
        <p:nvSpPr>
          <p:cNvPr id="73" name="Google Shape;73;p50"/>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74"/>
        <p:cNvGrpSpPr/>
        <p:nvPr/>
      </p:nvGrpSpPr>
      <p:grpSpPr>
        <a:xfrm>
          <a:off x="0" y="0"/>
          <a:ext cx="0" cy="0"/>
          <a:chOff x="0" y="0"/>
          <a:chExt cx="0" cy="0"/>
        </a:xfrm>
      </p:grpSpPr>
      <p:sp>
        <p:nvSpPr>
          <p:cNvPr id="75" name="Google Shape;75;p5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1"/>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7" name="Google Shape;77;p51"/>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8" name="Google Shape;78;p51"/>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79"/>
        <p:cNvGrpSpPr/>
        <p:nvPr/>
      </p:nvGrpSpPr>
      <p:grpSpPr>
        <a:xfrm>
          <a:off x="0" y="0"/>
          <a:ext cx="0" cy="0"/>
          <a:chOff x="0" y="0"/>
          <a:chExt cx="0" cy="0"/>
        </a:xfrm>
      </p:grpSpPr>
      <p:sp>
        <p:nvSpPr>
          <p:cNvPr id="80" name="Google Shape;80;p5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52"/>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2" name="Google Shape;82;p52"/>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3" name="Google Shape;83;p52"/>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84"/>
        <p:cNvGrpSpPr/>
        <p:nvPr/>
      </p:nvGrpSpPr>
      <p:grpSpPr>
        <a:xfrm>
          <a:off x="0" y="0"/>
          <a:ext cx="0" cy="0"/>
          <a:chOff x="0" y="0"/>
          <a:chExt cx="0" cy="0"/>
        </a:xfrm>
      </p:grpSpPr>
      <p:sp>
        <p:nvSpPr>
          <p:cNvPr id="85" name="Google Shape;85;p5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53"/>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7" name="Google Shape;87;p53"/>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88" name="Google Shape;88;p53"/>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89"/>
        <p:cNvGrpSpPr/>
        <p:nvPr/>
      </p:nvGrpSpPr>
      <p:grpSpPr>
        <a:xfrm>
          <a:off x="0" y="0"/>
          <a:ext cx="0" cy="0"/>
          <a:chOff x="0" y="0"/>
          <a:chExt cx="0" cy="0"/>
        </a:xfrm>
      </p:grpSpPr>
      <p:sp>
        <p:nvSpPr>
          <p:cNvPr id="90" name="Google Shape;90;p5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54"/>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2" name="Google Shape;92;p54"/>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93"/>
        <p:cNvGrpSpPr/>
        <p:nvPr/>
      </p:nvGrpSpPr>
      <p:grpSpPr>
        <a:xfrm>
          <a:off x="0" y="0"/>
          <a:ext cx="0" cy="0"/>
          <a:chOff x="0" y="0"/>
          <a:chExt cx="0" cy="0"/>
        </a:xfrm>
      </p:grpSpPr>
      <p:sp>
        <p:nvSpPr>
          <p:cNvPr id="94" name="Google Shape;94;p5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5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6" name="Google Shape;96;p5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7" name="Google Shape;97;p55"/>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8" name="Google Shape;98;p55"/>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99"/>
        <p:cNvGrpSpPr/>
        <p:nvPr/>
      </p:nvGrpSpPr>
      <p:grpSpPr>
        <a:xfrm>
          <a:off x="0" y="0"/>
          <a:ext cx="0" cy="0"/>
          <a:chOff x="0" y="0"/>
          <a:chExt cx="0" cy="0"/>
        </a:xfrm>
      </p:grpSpPr>
      <p:sp>
        <p:nvSpPr>
          <p:cNvPr id="100" name="Google Shape;100;p5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56"/>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2" name="Google Shape;102;p56"/>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3" name="Google Shape;103;p56"/>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4" name="Google Shape;104;p56"/>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5" name="Google Shape;105;p56"/>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06" name="Google Shape;106;p56"/>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11"/>
        <p:cNvGrpSpPr/>
        <p:nvPr/>
      </p:nvGrpSpPr>
      <p:grpSpPr>
        <a:xfrm>
          <a:off x="0" y="0"/>
          <a:ext cx="0" cy="0"/>
          <a:chOff x="0" y="0"/>
          <a:chExt cx="0" cy="0"/>
        </a:xfrm>
      </p:grpSpPr>
      <p:sp>
        <p:nvSpPr>
          <p:cNvPr id="112" name="Google Shape;112;p5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57"/>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14"/>
        <p:cNvGrpSpPr/>
        <p:nvPr/>
      </p:nvGrpSpPr>
      <p:grpSpPr>
        <a:xfrm>
          <a:off x="0" y="0"/>
          <a:ext cx="0" cy="0"/>
          <a:chOff x="0" y="0"/>
          <a:chExt cx="0" cy="0"/>
        </a:xfrm>
      </p:grpSpPr>
      <p:sp>
        <p:nvSpPr>
          <p:cNvPr id="115" name="Google Shape;115;p5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58"/>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17"/>
        <p:cNvGrpSpPr/>
        <p:nvPr/>
      </p:nvGrpSpPr>
      <p:grpSpPr>
        <a:xfrm>
          <a:off x="0" y="0"/>
          <a:ext cx="0" cy="0"/>
          <a:chOff x="0" y="0"/>
          <a:chExt cx="0" cy="0"/>
        </a:xfrm>
      </p:grpSpPr>
      <p:sp>
        <p:nvSpPr>
          <p:cNvPr id="118" name="Google Shape;118;p5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59"/>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0" name="Google Shape;120;p59"/>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6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23"/>
        <p:cNvGrpSpPr/>
        <p:nvPr/>
      </p:nvGrpSpPr>
      <p:grpSpPr>
        <a:xfrm>
          <a:off x="0" y="0"/>
          <a:ext cx="0" cy="0"/>
          <a:chOff x="0" y="0"/>
          <a:chExt cx="0" cy="0"/>
        </a:xfrm>
      </p:grpSpPr>
      <p:sp>
        <p:nvSpPr>
          <p:cNvPr id="124" name="Google Shape;124;p61"/>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25"/>
        <p:cNvGrpSpPr/>
        <p:nvPr/>
      </p:nvGrpSpPr>
      <p:grpSpPr>
        <a:xfrm>
          <a:off x="0" y="0"/>
          <a:ext cx="0" cy="0"/>
          <a:chOff x="0" y="0"/>
          <a:chExt cx="0" cy="0"/>
        </a:xfrm>
      </p:grpSpPr>
      <p:sp>
        <p:nvSpPr>
          <p:cNvPr id="126" name="Google Shape;126;p6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62"/>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8" name="Google Shape;128;p62"/>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29" name="Google Shape;129;p62"/>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30"/>
        <p:cNvGrpSpPr/>
        <p:nvPr/>
      </p:nvGrpSpPr>
      <p:grpSpPr>
        <a:xfrm>
          <a:off x="0" y="0"/>
          <a:ext cx="0" cy="0"/>
          <a:chOff x="0" y="0"/>
          <a:chExt cx="0" cy="0"/>
        </a:xfrm>
      </p:grpSpPr>
      <p:sp>
        <p:nvSpPr>
          <p:cNvPr id="131" name="Google Shape;131;p6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63"/>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3" name="Google Shape;133;p63"/>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4" name="Google Shape;134;p63"/>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35"/>
        <p:cNvGrpSpPr/>
        <p:nvPr/>
      </p:nvGrpSpPr>
      <p:grpSpPr>
        <a:xfrm>
          <a:off x="0" y="0"/>
          <a:ext cx="0" cy="0"/>
          <a:chOff x="0" y="0"/>
          <a:chExt cx="0" cy="0"/>
        </a:xfrm>
      </p:grpSpPr>
      <p:sp>
        <p:nvSpPr>
          <p:cNvPr id="136" name="Google Shape;136;p6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6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8" name="Google Shape;138;p6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9" name="Google Shape;139;p64"/>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40"/>
        <p:cNvGrpSpPr/>
        <p:nvPr/>
      </p:nvGrpSpPr>
      <p:grpSpPr>
        <a:xfrm>
          <a:off x="0" y="0"/>
          <a:ext cx="0" cy="0"/>
          <a:chOff x="0" y="0"/>
          <a:chExt cx="0" cy="0"/>
        </a:xfrm>
      </p:grpSpPr>
      <p:sp>
        <p:nvSpPr>
          <p:cNvPr id="141" name="Google Shape;141;p6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65"/>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3" name="Google Shape;143;p65"/>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44"/>
        <p:cNvGrpSpPr/>
        <p:nvPr/>
      </p:nvGrpSpPr>
      <p:grpSpPr>
        <a:xfrm>
          <a:off x="0" y="0"/>
          <a:ext cx="0" cy="0"/>
          <a:chOff x="0" y="0"/>
          <a:chExt cx="0" cy="0"/>
        </a:xfrm>
      </p:grpSpPr>
      <p:sp>
        <p:nvSpPr>
          <p:cNvPr id="145" name="Google Shape;145;p6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66"/>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7" name="Google Shape;147;p6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8" name="Google Shape;148;p66"/>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9" name="Google Shape;149;p66"/>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50"/>
        <p:cNvGrpSpPr/>
        <p:nvPr/>
      </p:nvGrpSpPr>
      <p:grpSpPr>
        <a:xfrm>
          <a:off x="0" y="0"/>
          <a:ext cx="0" cy="0"/>
          <a:chOff x="0" y="0"/>
          <a:chExt cx="0" cy="0"/>
        </a:xfrm>
      </p:grpSpPr>
      <p:sp>
        <p:nvSpPr>
          <p:cNvPr id="151" name="Google Shape;151;p6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67"/>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3" name="Google Shape;153;p67"/>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4" name="Google Shape;154;p67"/>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5" name="Google Shape;155;p67"/>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6" name="Google Shape;156;p67"/>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7" name="Google Shape;157;p67"/>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61"/>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62"/>
        <p:cNvGrpSpPr/>
        <p:nvPr/>
      </p:nvGrpSpPr>
      <p:grpSpPr>
        <a:xfrm>
          <a:off x="0" y="0"/>
          <a:ext cx="0" cy="0"/>
          <a:chOff x="0" y="0"/>
          <a:chExt cx="0" cy="0"/>
        </a:xfrm>
      </p:grpSpPr>
      <p:sp>
        <p:nvSpPr>
          <p:cNvPr id="163" name="Google Shape;163;p6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68"/>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65"/>
        <p:cNvGrpSpPr/>
        <p:nvPr/>
      </p:nvGrpSpPr>
      <p:grpSpPr>
        <a:xfrm>
          <a:off x="0" y="0"/>
          <a:ext cx="0" cy="0"/>
          <a:chOff x="0" y="0"/>
          <a:chExt cx="0" cy="0"/>
        </a:xfrm>
      </p:grpSpPr>
      <p:sp>
        <p:nvSpPr>
          <p:cNvPr id="166" name="Google Shape;166;p6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69"/>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68"/>
        <p:cNvGrpSpPr/>
        <p:nvPr/>
      </p:nvGrpSpPr>
      <p:grpSpPr>
        <a:xfrm>
          <a:off x="0" y="0"/>
          <a:ext cx="0" cy="0"/>
          <a:chOff x="0" y="0"/>
          <a:chExt cx="0" cy="0"/>
        </a:xfrm>
      </p:grpSpPr>
      <p:sp>
        <p:nvSpPr>
          <p:cNvPr id="169" name="Google Shape;169;p7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70"/>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1" name="Google Shape;171;p70"/>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2"/>
        <p:cNvGrpSpPr/>
        <p:nvPr/>
      </p:nvGrpSpPr>
      <p:grpSpPr>
        <a:xfrm>
          <a:off x="0" y="0"/>
          <a:ext cx="0" cy="0"/>
          <a:chOff x="0" y="0"/>
          <a:chExt cx="0" cy="0"/>
        </a:xfrm>
      </p:grpSpPr>
      <p:sp>
        <p:nvSpPr>
          <p:cNvPr id="173" name="Google Shape;173;p7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74"/>
        <p:cNvGrpSpPr/>
        <p:nvPr/>
      </p:nvGrpSpPr>
      <p:grpSpPr>
        <a:xfrm>
          <a:off x="0" y="0"/>
          <a:ext cx="0" cy="0"/>
          <a:chOff x="0" y="0"/>
          <a:chExt cx="0" cy="0"/>
        </a:xfrm>
      </p:grpSpPr>
      <p:sp>
        <p:nvSpPr>
          <p:cNvPr id="175" name="Google Shape;175;p72"/>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76"/>
        <p:cNvGrpSpPr/>
        <p:nvPr/>
      </p:nvGrpSpPr>
      <p:grpSpPr>
        <a:xfrm>
          <a:off x="0" y="0"/>
          <a:ext cx="0" cy="0"/>
          <a:chOff x="0" y="0"/>
          <a:chExt cx="0" cy="0"/>
        </a:xfrm>
      </p:grpSpPr>
      <p:sp>
        <p:nvSpPr>
          <p:cNvPr id="177" name="Google Shape;177;p7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73"/>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9" name="Google Shape;179;p73"/>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0" name="Google Shape;180;p73"/>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81"/>
        <p:cNvGrpSpPr/>
        <p:nvPr/>
      </p:nvGrpSpPr>
      <p:grpSpPr>
        <a:xfrm>
          <a:off x="0" y="0"/>
          <a:ext cx="0" cy="0"/>
          <a:chOff x="0" y="0"/>
          <a:chExt cx="0" cy="0"/>
        </a:xfrm>
      </p:grpSpPr>
      <p:sp>
        <p:nvSpPr>
          <p:cNvPr id="182" name="Google Shape;182;p7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74"/>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4" name="Google Shape;184;p74"/>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5" name="Google Shape;185;p74"/>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86"/>
        <p:cNvGrpSpPr/>
        <p:nvPr/>
      </p:nvGrpSpPr>
      <p:grpSpPr>
        <a:xfrm>
          <a:off x="0" y="0"/>
          <a:ext cx="0" cy="0"/>
          <a:chOff x="0" y="0"/>
          <a:chExt cx="0" cy="0"/>
        </a:xfrm>
      </p:grpSpPr>
      <p:sp>
        <p:nvSpPr>
          <p:cNvPr id="187" name="Google Shape;187;p7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75"/>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9" name="Google Shape;189;p7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0" name="Google Shape;190;p75"/>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91"/>
        <p:cNvGrpSpPr/>
        <p:nvPr/>
      </p:nvGrpSpPr>
      <p:grpSpPr>
        <a:xfrm>
          <a:off x="0" y="0"/>
          <a:ext cx="0" cy="0"/>
          <a:chOff x="0" y="0"/>
          <a:chExt cx="0" cy="0"/>
        </a:xfrm>
      </p:grpSpPr>
      <p:sp>
        <p:nvSpPr>
          <p:cNvPr id="192" name="Google Shape;192;p7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76"/>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4" name="Google Shape;194;p76"/>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95"/>
        <p:cNvGrpSpPr/>
        <p:nvPr/>
      </p:nvGrpSpPr>
      <p:grpSpPr>
        <a:xfrm>
          <a:off x="0" y="0"/>
          <a:ext cx="0" cy="0"/>
          <a:chOff x="0" y="0"/>
          <a:chExt cx="0" cy="0"/>
        </a:xfrm>
      </p:grpSpPr>
      <p:sp>
        <p:nvSpPr>
          <p:cNvPr id="196" name="Google Shape;196;p7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77"/>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8" name="Google Shape;198;p77"/>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9" name="Google Shape;199;p77"/>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0" name="Google Shape;200;p77"/>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01"/>
        <p:cNvGrpSpPr/>
        <p:nvPr/>
      </p:nvGrpSpPr>
      <p:grpSpPr>
        <a:xfrm>
          <a:off x="0" y="0"/>
          <a:ext cx="0" cy="0"/>
          <a:chOff x="0" y="0"/>
          <a:chExt cx="0" cy="0"/>
        </a:xfrm>
      </p:grpSpPr>
      <p:sp>
        <p:nvSpPr>
          <p:cNvPr id="202" name="Google Shape;202;p7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78"/>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4" name="Google Shape;204;p78"/>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5" name="Google Shape;205;p78"/>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6" name="Google Shape;206;p78"/>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7" name="Google Shape;207;p78"/>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8" name="Google Shape;208;p78"/>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12"/>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13"/>
        <p:cNvGrpSpPr/>
        <p:nvPr/>
      </p:nvGrpSpPr>
      <p:grpSpPr>
        <a:xfrm>
          <a:off x="0" y="0"/>
          <a:ext cx="0" cy="0"/>
          <a:chOff x="0" y="0"/>
          <a:chExt cx="0" cy="0"/>
        </a:xfrm>
      </p:grpSpPr>
      <p:sp>
        <p:nvSpPr>
          <p:cNvPr id="214" name="Google Shape;214;p7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79"/>
          <p:cNvSpPr txBox="1">
            <a:spLocks noGrp="1"/>
          </p:cNvSpPr>
          <p:nvPr>
            <p:ph type="subTitle" idx="1"/>
          </p:nvPr>
        </p:nvSpPr>
        <p:spPr>
          <a:xfrm>
            <a:off x="609480" y="1604520"/>
            <a:ext cx="10972440" cy="397728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16"/>
        <p:cNvGrpSpPr/>
        <p:nvPr/>
      </p:nvGrpSpPr>
      <p:grpSpPr>
        <a:xfrm>
          <a:off x="0" y="0"/>
          <a:ext cx="0" cy="0"/>
          <a:chOff x="0" y="0"/>
          <a:chExt cx="0" cy="0"/>
        </a:xfrm>
      </p:grpSpPr>
      <p:sp>
        <p:nvSpPr>
          <p:cNvPr id="217" name="Google Shape;217;p8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80"/>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19"/>
        <p:cNvGrpSpPr/>
        <p:nvPr/>
      </p:nvGrpSpPr>
      <p:grpSpPr>
        <a:xfrm>
          <a:off x="0" y="0"/>
          <a:ext cx="0" cy="0"/>
          <a:chOff x="0" y="0"/>
          <a:chExt cx="0" cy="0"/>
        </a:xfrm>
      </p:grpSpPr>
      <p:sp>
        <p:nvSpPr>
          <p:cNvPr id="220" name="Google Shape;220;p8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81"/>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22" name="Google Shape;222;p81"/>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3"/>
        <p:cNvGrpSpPr/>
        <p:nvPr/>
      </p:nvGrpSpPr>
      <p:grpSpPr>
        <a:xfrm>
          <a:off x="0" y="0"/>
          <a:ext cx="0" cy="0"/>
          <a:chOff x="0" y="0"/>
          <a:chExt cx="0" cy="0"/>
        </a:xfrm>
      </p:grpSpPr>
      <p:sp>
        <p:nvSpPr>
          <p:cNvPr id="224" name="Google Shape;224;p8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25"/>
        <p:cNvGrpSpPr/>
        <p:nvPr/>
      </p:nvGrpSpPr>
      <p:grpSpPr>
        <a:xfrm>
          <a:off x="0" y="0"/>
          <a:ext cx="0" cy="0"/>
          <a:chOff x="0" y="0"/>
          <a:chExt cx="0" cy="0"/>
        </a:xfrm>
      </p:grpSpPr>
      <p:sp>
        <p:nvSpPr>
          <p:cNvPr id="226" name="Google Shape;226;p83"/>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27"/>
        <p:cNvGrpSpPr/>
        <p:nvPr/>
      </p:nvGrpSpPr>
      <p:grpSpPr>
        <a:xfrm>
          <a:off x="0" y="0"/>
          <a:ext cx="0" cy="0"/>
          <a:chOff x="0" y="0"/>
          <a:chExt cx="0" cy="0"/>
        </a:xfrm>
      </p:grpSpPr>
      <p:sp>
        <p:nvSpPr>
          <p:cNvPr id="228" name="Google Shape;228;p8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84"/>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0" name="Google Shape;230;p84"/>
          <p:cNvSpPr txBox="1">
            <a:spLocks noGrp="1"/>
          </p:cNvSpPr>
          <p:nvPr>
            <p:ph type="body" idx="2"/>
          </p:nvPr>
        </p:nvSpPr>
        <p:spPr>
          <a:xfrm>
            <a:off x="623196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1" name="Google Shape;231;p84"/>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32"/>
        <p:cNvGrpSpPr/>
        <p:nvPr/>
      </p:nvGrpSpPr>
      <p:grpSpPr>
        <a:xfrm>
          <a:off x="0" y="0"/>
          <a:ext cx="0" cy="0"/>
          <a:chOff x="0" y="0"/>
          <a:chExt cx="0" cy="0"/>
        </a:xfrm>
      </p:grpSpPr>
      <p:sp>
        <p:nvSpPr>
          <p:cNvPr id="233" name="Google Shape;233;p8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85"/>
          <p:cNvSpPr txBox="1">
            <a:spLocks noGrp="1"/>
          </p:cNvSpPr>
          <p:nvPr>
            <p:ph type="body" idx="1"/>
          </p:nvPr>
        </p:nvSpPr>
        <p:spPr>
          <a:xfrm>
            <a:off x="609480" y="1604520"/>
            <a:ext cx="5354280" cy="397728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5" name="Google Shape;235;p85"/>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6" name="Google Shape;236;p85"/>
          <p:cNvSpPr txBox="1">
            <a:spLocks noGrp="1"/>
          </p:cNvSpPr>
          <p:nvPr>
            <p:ph type="body" idx="3"/>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37"/>
        <p:cNvGrpSpPr/>
        <p:nvPr/>
      </p:nvGrpSpPr>
      <p:grpSpPr>
        <a:xfrm>
          <a:off x="0" y="0"/>
          <a:ext cx="0" cy="0"/>
          <a:chOff x="0" y="0"/>
          <a:chExt cx="0" cy="0"/>
        </a:xfrm>
      </p:grpSpPr>
      <p:sp>
        <p:nvSpPr>
          <p:cNvPr id="238" name="Google Shape;238;p8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9" name="Google Shape;239;p86"/>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0" name="Google Shape;240;p86"/>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1" name="Google Shape;241;p86"/>
          <p:cNvSpPr txBox="1">
            <a:spLocks noGrp="1"/>
          </p:cNvSpPr>
          <p:nvPr>
            <p:ph type="body" idx="3"/>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42"/>
        <p:cNvGrpSpPr/>
        <p:nvPr/>
      </p:nvGrpSpPr>
      <p:grpSpPr>
        <a:xfrm>
          <a:off x="0" y="0"/>
          <a:ext cx="0" cy="0"/>
          <a:chOff x="0" y="0"/>
          <a:chExt cx="0" cy="0"/>
        </a:xfrm>
      </p:grpSpPr>
      <p:sp>
        <p:nvSpPr>
          <p:cNvPr id="243" name="Google Shape;243;p8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87"/>
          <p:cNvSpPr txBox="1">
            <a:spLocks noGrp="1"/>
          </p:cNvSpPr>
          <p:nvPr>
            <p:ph type="body" idx="1"/>
          </p:nvPr>
        </p:nvSpPr>
        <p:spPr>
          <a:xfrm>
            <a:off x="609480" y="160452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5" name="Google Shape;245;p87"/>
          <p:cNvSpPr txBox="1">
            <a:spLocks noGrp="1"/>
          </p:cNvSpPr>
          <p:nvPr>
            <p:ph type="body" idx="2"/>
          </p:nvPr>
        </p:nvSpPr>
        <p:spPr>
          <a:xfrm>
            <a:off x="609480" y="3682080"/>
            <a:ext cx="109724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46"/>
        <p:cNvGrpSpPr/>
        <p:nvPr/>
      </p:nvGrpSpPr>
      <p:grpSpPr>
        <a:xfrm>
          <a:off x="0" y="0"/>
          <a:ext cx="0" cy="0"/>
          <a:chOff x="0" y="0"/>
          <a:chExt cx="0" cy="0"/>
        </a:xfrm>
      </p:grpSpPr>
      <p:sp>
        <p:nvSpPr>
          <p:cNvPr id="247" name="Google Shape;247;p8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88"/>
          <p:cNvSpPr txBox="1">
            <a:spLocks noGrp="1"/>
          </p:cNvSpPr>
          <p:nvPr>
            <p:ph type="body" idx="1"/>
          </p:nvPr>
        </p:nvSpPr>
        <p:spPr>
          <a:xfrm>
            <a:off x="60948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49" name="Google Shape;249;p88"/>
          <p:cNvSpPr txBox="1">
            <a:spLocks noGrp="1"/>
          </p:cNvSpPr>
          <p:nvPr>
            <p:ph type="body" idx="2"/>
          </p:nvPr>
        </p:nvSpPr>
        <p:spPr>
          <a:xfrm>
            <a:off x="6231960" y="160452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0" name="Google Shape;250;p88"/>
          <p:cNvSpPr txBox="1">
            <a:spLocks noGrp="1"/>
          </p:cNvSpPr>
          <p:nvPr>
            <p:ph type="body" idx="3"/>
          </p:nvPr>
        </p:nvSpPr>
        <p:spPr>
          <a:xfrm>
            <a:off x="60948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1" name="Google Shape;251;p88"/>
          <p:cNvSpPr txBox="1">
            <a:spLocks noGrp="1"/>
          </p:cNvSpPr>
          <p:nvPr>
            <p:ph type="body" idx="4"/>
          </p:nvPr>
        </p:nvSpPr>
        <p:spPr>
          <a:xfrm>
            <a:off x="6231960" y="3682080"/>
            <a:ext cx="535428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52"/>
        <p:cNvGrpSpPr/>
        <p:nvPr/>
      </p:nvGrpSpPr>
      <p:grpSpPr>
        <a:xfrm>
          <a:off x="0" y="0"/>
          <a:ext cx="0" cy="0"/>
          <a:chOff x="0" y="0"/>
          <a:chExt cx="0" cy="0"/>
        </a:xfrm>
      </p:grpSpPr>
      <p:sp>
        <p:nvSpPr>
          <p:cNvPr id="253" name="Google Shape;253;p8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4" name="Google Shape;254;p89"/>
          <p:cNvSpPr txBox="1">
            <a:spLocks noGrp="1"/>
          </p:cNvSpPr>
          <p:nvPr>
            <p:ph type="body" idx="1"/>
          </p:nvPr>
        </p:nvSpPr>
        <p:spPr>
          <a:xfrm>
            <a:off x="60948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5" name="Google Shape;255;p89"/>
          <p:cNvSpPr txBox="1">
            <a:spLocks noGrp="1"/>
          </p:cNvSpPr>
          <p:nvPr>
            <p:ph type="body" idx="2"/>
          </p:nvPr>
        </p:nvSpPr>
        <p:spPr>
          <a:xfrm>
            <a:off x="431964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6" name="Google Shape;256;p89"/>
          <p:cNvSpPr txBox="1">
            <a:spLocks noGrp="1"/>
          </p:cNvSpPr>
          <p:nvPr>
            <p:ph type="body" idx="3"/>
          </p:nvPr>
        </p:nvSpPr>
        <p:spPr>
          <a:xfrm>
            <a:off x="8029800" y="160452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7" name="Google Shape;257;p89"/>
          <p:cNvSpPr txBox="1">
            <a:spLocks noGrp="1"/>
          </p:cNvSpPr>
          <p:nvPr>
            <p:ph type="body" idx="4"/>
          </p:nvPr>
        </p:nvSpPr>
        <p:spPr>
          <a:xfrm>
            <a:off x="60948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8" name="Google Shape;258;p89"/>
          <p:cNvSpPr txBox="1">
            <a:spLocks noGrp="1"/>
          </p:cNvSpPr>
          <p:nvPr>
            <p:ph type="body" idx="5"/>
          </p:nvPr>
        </p:nvSpPr>
        <p:spPr>
          <a:xfrm>
            <a:off x="431964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59" name="Google Shape;259;p89"/>
          <p:cNvSpPr txBox="1">
            <a:spLocks noGrp="1"/>
          </p:cNvSpPr>
          <p:nvPr>
            <p:ph type="body" idx="6"/>
          </p:nvPr>
        </p:nvSpPr>
        <p:spPr>
          <a:xfrm>
            <a:off x="8029800" y="3682080"/>
            <a:ext cx="3533040" cy="189684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theme" Target="../theme/theme5.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6"/>
        <p:cNvGrpSpPr/>
        <p:nvPr/>
      </p:nvGrpSpPr>
      <p:grpSpPr>
        <a:xfrm>
          <a:off x="0" y="0"/>
          <a:ext cx="0" cy="0"/>
          <a:chOff x="0" y="0"/>
          <a:chExt cx="0" cy="0"/>
        </a:xfrm>
      </p:grpSpPr>
      <p:sp>
        <p:nvSpPr>
          <p:cNvPr id="57" name="Google Shape;57;p27"/>
          <p:cNvSpPr txBox="1">
            <a:spLocks noGrp="1"/>
          </p:cNvSpPr>
          <p:nvPr>
            <p:ph type="body" idx="1"/>
          </p:nvPr>
        </p:nvSpPr>
        <p:spPr>
          <a:xfrm>
            <a:off x="4558320" y="1248480"/>
            <a:ext cx="7391160" cy="5204880"/>
          </a:xfrm>
          <a:prstGeom prst="rect">
            <a:avLst/>
          </a:prstGeom>
          <a:noFill/>
          <a:ln>
            <a:noFill/>
          </a:ln>
        </p:spPr>
        <p:txBody>
          <a:bodyPr spcFirstLastPara="1" wrap="square" lIns="90000" tIns="45000" rIns="90000" bIns="450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p27"/>
          <p:cNvSpPr txBox="1">
            <a:spLocks noGrp="1"/>
          </p:cNvSpPr>
          <p:nvPr>
            <p:ph type="title"/>
          </p:nvPr>
        </p:nvSpPr>
        <p:spPr>
          <a:xfrm>
            <a:off x="4558320" y="404280"/>
            <a:ext cx="7391160" cy="435600"/>
          </a:xfrm>
          <a:prstGeom prst="rect">
            <a:avLst/>
          </a:prstGeom>
          <a:noFill/>
          <a:ln>
            <a:noFill/>
          </a:ln>
        </p:spPr>
        <p:txBody>
          <a:bodyPr spcFirstLastPara="1" wrap="square" lIns="90000" tIns="45000" rIns="90000" bIns="450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9"/>
          <p:cNvSpPr txBox="1">
            <a:spLocks noGrp="1"/>
          </p:cNvSpPr>
          <p:nvPr>
            <p:ph type="body" idx="1"/>
          </p:nvPr>
        </p:nvSpPr>
        <p:spPr>
          <a:xfrm>
            <a:off x="338760" y="1058760"/>
            <a:ext cx="11514240" cy="4908600"/>
          </a:xfrm>
          <a:prstGeom prst="rect">
            <a:avLst/>
          </a:prstGeom>
          <a:noFill/>
          <a:ln>
            <a:noFill/>
          </a:ln>
        </p:spPr>
        <p:txBody>
          <a:bodyPr spcFirstLastPara="1" wrap="square" lIns="90000" tIns="45000" rIns="90000" bIns="450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 name="Google Shape;109;p29"/>
          <p:cNvSpPr txBox="1">
            <a:spLocks noGrp="1"/>
          </p:cNvSpPr>
          <p:nvPr>
            <p:ph type="title"/>
          </p:nvPr>
        </p:nvSpPr>
        <p:spPr>
          <a:xfrm>
            <a:off x="338760" y="112680"/>
            <a:ext cx="11514240" cy="435600"/>
          </a:xfrm>
          <a:prstGeom prst="rect">
            <a:avLst/>
          </a:prstGeom>
          <a:noFill/>
          <a:ln>
            <a:noFill/>
          </a:ln>
        </p:spPr>
        <p:txBody>
          <a:bodyPr spcFirstLastPara="1" wrap="square" lIns="90000" tIns="45000" rIns="90000" bIns="450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158"/>
        <p:cNvGrpSpPr/>
        <p:nvPr/>
      </p:nvGrpSpPr>
      <p:grpSpPr>
        <a:xfrm>
          <a:off x="0" y="0"/>
          <a:ext cx="0" cy="0"/>
          <a:chOff x="0" y="0"/>
          <a:chExt cx="0" cy="0"/>
        </a:xfrm>
      </p:grpSpPr>
      <p:sp>
        <p:nvSpPr>
          <p:cNvPr id="159" name="Google Shape;159;p3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0" name="Google Shape;160;p3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209"/>
        <p:cNvGrpSpPr/>
        <p:nvPr/>
      </p:nvGrpSpPr>
      <p:grpSpPr>
        <a:xfrm>
          <a:off x="0" y="0"/>
          <a:ext cx="0" cy="0"/>
          <a:chOff x="0" y="0"/>
          <a:chExt cx="0" cy="0"/>
        </a:xfrm>
      </p:grpSpPr>
      <p:sp>
        <p:nvSpPr>
          <p:cNvPr id="210" name="Google Shape;210;p3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1" name="Google Shape;211;p33"/>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ict-logo.png"/>
          <p:cNvPicPr>
            <a:picLocks noChangeAspect="1"/>
          </p:cNvPicPr>
          <p:nvPr/>
        </p:nvPicPr>
        <p:blipFill>
          <a:blip r:embed="rId3"/>
          <a:stretch>
            <a:fillRect/>
          </a:stretch>
        </p:blipFill>
        <p:spPr>
          <a:xfrm>
            <a:off x="457200" y="411480"/>
            <a:ext cx="2138822" cy="868680"/>
          </a:xfrm>
          <a:prstGeom prst="rect">
            <a:avLst/>
          </a:prstGeom>
        </p:spPr>
      </p:pic>
      <p:sp>
        <p:nvSpPr>
          <p:cNvPr id="3" name="TextBox 2"/>
          <p:cNvSpPr txBox="1"/>
          <p:nvPr/>
        </p:nvSpPr>
        <p:spPr>
          <a:xfrm>
            <a:off x="694944" y="1965960"/>
            <a:ext cx="8229600" cy="1325880"/>
          </a:xfrm>
          <a:prstGeom prst="rect">
            <a:avLst/>
          </a:prstGeom>
          <a:noFill/>
        </p:spPr>
        <p:txBody>
          <a:bodyPr wrap="square" anchor="t">
            <a:spAutoFit/>
          </a:bodyPr>
          <a:lstStyle/>
          <a:p>
            <a:pPr algn="l">
              <a:spcAft>
                <a:spcPts val="0"/>
              </a:spcAft>
            </a:pPr>
            <a:r>
              <a:rPr sz="3600" b="1" i="0">
                <a:solidFill>
                  <a:srgbClr val="0B2E63"/>
                </a:solidFill>
                <a:latin typeface="Calibri"/>
              </a:rPr>
              <a:t>Profit-Aware Telecom Churn</a:t>
            </a:r>
          </a:p>
          <a:p>
            <a:pPr algn="l">
              <a:spcAft>
                <a:spcPts val="0"/>
              </a:spcAft>
            </a:pPr>
            <a:r>
              <a:rPr sz="3600" b="1" i="0">
                <a:solidFill>
                  <a:srgbClr val="0B2E63"/>
                </a:solidFill>
                <a:latin typeface="Calibri"/>
              </a:rPr>
              <a:t>&amp; Retention Targeting</a:t>
            </a:r>
          </a:p>
        </p:txBody>
      </p:sp>
      <p:sp>
        <p:nvSpPr>
          <p:cNvPr id="4" name="TextBox 3"/>
          <p:cNvSpPr txBox="1"/>
          <p:nvPr/>
        </p:nvSpPr>
        <p:spPr>
          <a:xfrm>
            <a:off x="694944" y="3383280"/>
            <a:ext cx="8229600" cy="384048"/>
          </a:xfrm>
          <a:prstGeom prst="rect">
            <a:avLst/>
          </a:prstGeom>
          <a:noFill/>
        </p:spPr>
        <p:txBody>
          <a:bodyPr wrap="square" anchor="t">
            <a:spAutoFit/>
          </a:bodyPr>
          <a:lstStyle/>
          <a:p>
            <a:pPr algn="l">
              <a:spcAft>
                <a:spcPts val="600"/>
              </a:spcAft>
            </a:pPr>
            <a:r>
              <a:rPr sz="1400" b="0" i="0">
                <a:solidFill>
                  <a:srgbClr val="1F2937"/>
                </a:solidFill>
                <a:latin typeface="Calibri"/>
              </a:rPr>
              <a:t>Introduction to Business Analytics · Capstone Topic 7 · Assoc. Prof. Nguyen Binh Minh</a:t>
            </a:r>
          </a:p>
        </p:txBody>
      </p:sp>
      <p:sp>
        <p:nvSpPr>
          <p:cNvPr id="5" name="TextBox 4"/>
          <p:cNvSpPr txBox="1"/>
          <p:nvPr/>
        </p:nvSpPr>
        <p:spPr>
          <a:xfrm>
            <a:off x="694944" y="3840480"/>
            <a:ext cx="5120640" cy="1554480"/>
          </a:xfrm>
          <a:prstGeom prst="rect">
            <a:avLst/>
          </a:prstGeom>
          <a:noFill/>
        </p:spPr>
        <p:txBody>
          <a:bodyPr wrap="square" anchor="t">
            <a:spAutoFit/>
          </a:bodyPr>
          <a:lstStyle/>
          <a:p>
            <a:pPr algn="l">
              <a:spcAft>
                <a:spcPts val="100"/>
              </a:spcAft>
            </a:pPr>
            <a:r>
              <a:rPr sz="1500" b="1" i="0">
                <a:solidFill>
                  <a:srgbClr val="0B2E63"/>
                </a:solidFill>
                <a:latin typeface="Calibri"/>
              </a:rPr>
              <a:t>Group 1</a:t>
            </a:r>
          </a:p>
          <a:p>
            <a:pPr algn="l">
              <a:spcAft>
                <a:spcPts val="100"/>
              </a:spcAft>
            </a:pPr>
            <a:r>
              <a:rPr sz="1500" b="0" i="0">
                <a:solidFill>
                  <a:srgbClr val="1F2937"/>
                </a:solidFill>
                <a:latin typeface="Calibri"/>
              </a:rPr>
              <a:t>Pham Tuan Kiet · 20252751M</a:t>
            </a:r>
          </a:p>
          <a:p>
            <a:pPr algn="l">
              <a:spcAft>
                <a:spcPts val="100"/>
              </a:spcAft>
            </a:pPr>
            <a:r>
              <a:rPr sz="1500" b="0" i="0">
                <a:solidFill>
                  <a:srgbClr val="1F2937"/>
                </a:solidFill>
                <a:latin typeface="Calibri"/>
              </a:rPr>
              <a:t>Nguyen Trung Hieu · 20261059M</a:t>
            </a:r>
          </a:p>
          <a:p>
            <a:pPr algn="l">
              <a:spcAft>
                <a:spcPts val="100"/>
              </a:spcAft>
            </a:pPr>
            <a:r>
              <a:rPr sz="1500" b="0" i="0">
                <a:solidFill>
                  <a:srgbClr val="1F2937"/>
                </a:solidFill>
                <a:latin typeface="Calibri"/>
              </a:rPr>
              <a:t>Bui Tien Dung · 20261204M</a:t>
            </a:r>
          </a:p>
          <a:p>
            <a:pPr algn="l">
              <a:spcAft>
                <a:spcPts val="100"/>
              </a:spcAft>
            </a:pPr>
            <a:r>
              <a:rPr sz="1500" b="0" i="0">
                <a:solidFill>
                  <a:srgbClr val="1F2937"/>
                </a:solidFill>
                <a:latin typeface="Calibri"/>
              </a:rPr>
              <a:t>Pham Hung Phong · 20261061M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62856" y="402336"/>
            <a:ext cx="7388352" cy="438912"/>
          </a:xfrm>
          <a:prstGeom prst="rect">
            <a:avLst/>
          </a:prstGeom>
          <a:noFill/>
        </p:spPr>
        <p:txBody>
          <a:bodyPr wrap="square" anchor="t">
            <a:spAutoFit/>
          </a:bodyPr>
          <a:lstStyle/>
          <a:p>
            <a:pPr algn="l">
              <a:spcAft>
                <a:spcPts val="600"/>
              </a:spcAft>
            </a:pPr>
            <a:r>
              <a:rPr sz="2800" b="1" i="0">
                <a:solidFill>
                  <a:srgbClr val="0B2E63"/>
                </a:solidFill>
                <a:latin typeface="Calibri"/>
              </a:rPr>
              <a:t>Outline</a:t>
            </a:r>
          </a:p>
        </p:txBody>
      </p:sp>
      <p:sp>
        <p:nvSpPr>
          <p:cNvPr id="3" name="Rounded Rectangle 2"/>
          <p:cNvSpPr/>
          <p:nvPr/>
        </p:nvSpPr>
        <p:spPr>
          <a:xfrm>
            <a:off x="4553712" y="1188720"/>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  </a:t>
            </a:r>
            <a:r>
              <a:rPr sz="2200" b="1" i="0">
                <a:solidFill>
                  <a:srgbClr val="0B2E63"/>
                </a:solidFill>
                <a:latin typeface="Calibri"/>
              </a:rPr>
              <a:t>Business problem</a:t>
            </a:r>
          </a:p>
          <a:p>
            <a:pPr algn="l">
              <a:spcAft>
                <a:spcPts val="0"/>
              </a:spcAft>
            </a:pPr>
            <a:r>
              <a:rPr sz="1400" b="0" i="0">
                <a:solidFill>
                  <a:srgbClr val="1F2937"/>
                </a:solidFill>
                <a:latin typeface="Calibri"/>
              </a:rPr>
              <a:t>Decision, data, risk versus value</a:t>
            </a:r>
          </a:p>
        </p:txBody>
      </p:sp>
      <p:sp>
        <p:nvSpPr>
          <p:cNvPr id="4" name="Rounded Rectangle 3"/>
          <p:cNvSpPr/>
          <p:nvPr/>
        </p:nvSpPr>
        <p:spPr>
          <a:xfrm>
            <a:off x="4553712" y="2167128"/>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  </a:t>
            </a:r>
            <a:r>
              <a:rPr sz="2200" b="1" i="0">
                <a:solidFill>
                  <a:srgbClr val="0B2E63"/>
                </a:solidFill>
                <a:latin typeface="Calibri"/>
              </a:rPr>
              <a:t>Model and decision rule</a:t>
            </a:r>
          </a:p>
          <a:p>
            <a:pPr algn="l">
              <a:spcAft>
                <a:spcPts val="0"/>
              </a:spcAft>
            </a:pPr>
            <a:r>
              <a:rPr sz="1400" b="0" i="0">
                <a:solidFill>
                  <a:srgbClr val="1F2937"/>
                </a:solidFill>
                <a:latin typeface="Calibri"/>
              </a:rPr>
              <a:t>Calibrated churn model, expected value, optimiser</a:t>
            </a:r>
          </a:p>
        </p:txBody>
      </p:sp>
      <p:sp>
        <p:nvSpPr>
          <p:cNvPr id="5" name="Rounded Rectangle 4"/>
          <p:cNvSpPr/>
          <p:nvPr/>
        </p:nvSpPr>
        <p:spPr>
          <a:xfrm>
            <a:off x="4553712" y="3145536"/>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III.  </a:t>
            </a:r>
            <a:r>
              <a:rPr sz="2200" b="1" i="0">
                <a:solidFill>
                  <a:srgbClr val="0B2E63"/>
                </a:solidFill>
                <a:latin typeface="Calibri"/>
              </a:rPr>
              <a:t>Results and robustness</a:t>
            </a:r>
          </a:p>
          <a:p>
            <a:pPr algn="l">
              <a:spcAft>
                <a:spcPts val="0"/>
              </a:spcAft>
            </a:pPr>
            <a:r>
              <a:rPr sz="1400" b="0" i="0">
                <a:solidFill>
                  <a:srgbClr val="1F2937"/>
                </a:solidFill>
                <a:latin typeface="Calibri"/>
              </a:rPr>
              <a:t>Same-budget comparison, budget size, sensitivity</a:t>
            </a:r>
          </a:p>
        </p:txBody>
      </p:sp>
      <p:sp>
        <p:nvSpPr>
          <p:cNvPr id="6" name="Rounded Rectangle 5"/>
          <p:cNvSpPr/>
          <p:nvPr/>
        </p:nvSpPr>
        <p:spPr>
          <a:xfrm>
            <a:off x="4553712" y="4123944"/>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IV.  </a:t>
            </a:r>
            <a:r>
              <a:rPr sz="2200" b="1" i="0">
                <a:solidFill>
                  <a:srgbClr val="0B2E63"/>
                </a:solidFill>
                <a:latin typeface="Calibri"/>
              </a:rPr>
              <a:t>Recommendation and demo</a:t>
            </a:r>
          </a:p>
          <a:p>
            <a:pPr algn="l">
              <a:spcAft>
                <a:spcPts val="0"/>
              </a:spcAft>
            </a:pPr>
            <a:r>
              <a:rPr sz="1400" b="0" i="0">
                <a:solidFill>
                  <a:srgbClr val="1F2937"/>
                </a:solidFill>
                <a:latin typeface="Calibri"/>
              </a:rPr>
              <a:t>Randomised pilot, live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The Decision: Who Gets a Retention Offer?</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3</a:t>
            </a:r>
          </a:p>
        </p:txBody>
      </p:sp>
      <p:sp>
        <p:nvSpPr>
          <p:cNvPr id="4" name="Rounded Rectangle 3"/>
          <p:cNvSpPr/>
          <p:nvPr/>
        </p:nvSpPr>
        <p:spPr>
          <a:xfrm>
            <a:off x="457200" y="1234440"/>
            <a:ext cx="11292840" cy="86868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2000" b="1" i="0">
                <a:solidFill>
                  <a:srgbClr val="FFFFFF"/>
                </a:solidFill>
                <a:latin typeface="Calibri"/>
              </a:rPr>
              <a:t>Given a limited retention budget, which customers should receive an offer when both churn risk and expected value count?</a:t>
            </a:r>
          </a:p>
        </p:txBody>
      </p:sp>
      <p:sp>
        <p:nvSpPr>
          <p:cNvPr id="5" name="TextBox 4"/>
          <p:cNvSpPr txBox="1"/>
          <p:nvPr/>
        </p:nvSpPr>
        <p:spPr>
          <a:xfrm>
            <a:off x="457200" y="2331720"/>
            <a:ext cx="11292840" cy="1463040"/>
          </a:xfrm>
          <a:prstGeom prst="rect">
            <a:avLst/>
          </a:prstGeom>
          <a:noFill/>
        </p:spPr>
        <p:txBody>
          <a:bodyPr wrap="square" anchor="t">
            <a:spAutoFit/>
          </a:bodyPr>
          <a:lstStyle/>
          <a:p>
            <a:pPr algn="l" marL="228600" indent="-228600">
              <a:spcAft>
                <a:spcPts val="600"/>
              </a:spcAft>
              <a:buClr>
                <a:srgbClr val="0B2E63"/>
              </a:buClr>
              <a:buSzPts val="1800"/>
              <a:buFont typeface="Arial"/>
              <a:buChar char="•"/>
            </a:pPr>
            <a:r>
              <a:rPr sz="1800" b="0" i="0">
                <a:solidFill>
                  <a:srgbClr val="1F2937"/>
                </a:solidFill>
                <a:latin typeface="Calibri"/>
              </a:rPr>
              <a:t>26.5% of customers left; churn puts about $468,468 of 12-month margin at risk</a:t>
            </a:r>
          </a:p>
          <a:p>
            <a:pPr algn="l" marL="228600" indent="-228600">
              <a:spcAft>
                <a:spcPts val="600"/>
              </a:spcAft>
              <a:buClr>
                <a:srgbClr val="0B2E63"/>
              </a:buClr>
              <a:buSzPts val="1800"/>
              <a:buFont typeface="Arial"/>
              <a:buChar char="•"/>
            </a:pPr>
            <a:r>
              <a:rPr sz="1800" b="0" i="0">
                <a:solidFill>
                  <a:srgbClr val="1F2937"/>
                </a:solidFill>
                <a:latin typeface="Calibri"/>
              </a:rPr>
              <a:t>Today the fixed budget goes to the customers most likely to leave</a:t>
            </a:r>
          </a:p>
          <a:p>
            <a:pPr algn="l" marL="228600" indent="-228600">
              <a:spcAft>
                <a:spcPts val="600"/>
              </a:spcAft>
              <a:buClr>
                <a:srgbClr val="0B2E63"/>
              </a:buClr>
              <a:buSzPts val="1800"/>
              <a:buFont typeface="Arial"/>
              <a:buChar char="•"/>
            </a:pPr>
            <a:r>
              <a:rPr sz="1800" b="0" i="0">
                <a:solidFill>
                  <a:srgbClr val="1F2937"/>
                </a:solidFill>
                <a:latin typeface="Calibri"/>
              </a:rPr>
              <a:t>But every offer costs money, and not every risky customer is worth saving</a:t>
            </a:r>
          </a:p>
        </p:txBody>
      </p:sp>
      <p:sp>
        <p:nvSpPr>
          <p:cNvPr id="6" name="Rounded Rectangle 5"/>
          <p:cNvSpPr/>
          <p:nvPr/>
        </p:nvSpPr>
        <p:spPr>
          <a:xfrm>
            <a:off x="548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Churn risk</a:t>
            </a:r>
          </a:p>
          <a:p>
            <a:pPr algn="ctr">
              <a:spcAft>
                <a:spcPts val="200"/>
              </a:spcAft>
            </a:pPr>
            <a:r>
              <a:rPr sz="1200" b="0" i="0">
                <a:solidFill>
                  <a:srgbClr val="1F2937"/>
                </a:solidFill>
                <a:latin typeface="Calibri"/>
              </a:rPr>
              <a:t>p, from the model</a:t>
            </a:r>
          </a:p>
        </p:txBody>
      </p:sp>
      <p:sp>
        <p:nvSpPr>
          <p:cNvPr id="7" name="TextBox 6"/>
          <p:cNvSpPr txBox="1"/>
          <p:nvPr/>
        </p:nvSpPr>
        <p:spPr>
          <a:xfrm>
            <a:off x="2423160"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8" name="Rounded Rectangle 7"/>
          <p:cNvSpPr/>
          <p:nvPr/>
        </p:nvSpPr>
        <p:spPr>
          <a:xfrm>
            <a:off x="2834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Save rate</a:t>
            </a:r>
          </a:p>
          <a:p>
            <a:pPr algn="ctr">
              <a:spcAft>
                <a:spcPts val="200"/>
              </a:spcAft>
            </a:pPr>
            <a:r>
              <a:rPr sz="1200" b="0" i="0">
                <a:solidFill>
                  <a:srgbClr val="1F2937"/>
                </a:solidFill>
                <a:latin typeface="Calibri"/>
              </a:rPr>
              <a:t>q, assumed per offer</a:t>
            </a:r>
          </a:p>
        </p:txBody>
      </p:sp>
      <p:sp>
        <p:nvSpPr>
          <p:cNvPr id="9" name="TextBox 8"/>
          <p:cNvSpPr txBox="1"/>
          <p:nvPr/>
        </p:nvSpPr>
        <p:spPr>
          <a:xfrm>
            <a:off x="4709160"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0" name="Rounded Rectangle 9"/>
          <p:cNvSpPr/>
          <p:nvPr/>
        </p:nvSpPr>
        <p:spPr>
          <a:xfrm>
            <a:off x="5120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Customer value</a:t>
            </a:r>
          </a:p>
          <a:p>
            <a:pPr algn="ctr">
              <a:spcAft>
                <a:spcPts val="200"/>
              </a:spcAft>
            </a:pPr>
            <a:r>
              <a:rPr sz="1200" b="0" i="0">
                <a:solidFill>
                  <a:srgbClr val="1F2937"/>
                </a:solidFill>
                <a:latin typeface="Calibri"/>
              </a:rPr>
              <a:t>V, 12-month margin</a:t>
            </a:r>
          </a:p>
        </p:txBody>
      </p:sp>
      <p:sp>
        <p:nvSpPr>
          <p:cNvPr id="11" name="TextBox 10"/>
          <p:cNvSpPr txBox="1"/>
          <p:nvPr/>
        </p:nvSpPr>
        <p:spPr>
          <a:xfrm>
            <a:off x="6995159"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2" name="Rounded Rectangle 11"/>
          <p:cNvSpPr/>
          <p:nvPr/>
        </p:nvSpPr>
        <p:spPr>
          <a:xfrm>
            <a:off x="7406640" y="4069080"/>
            <a:ext cx="1874519"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0B2E63"/>
                </a:solidFill>
                <a:latin typeface="Calibri"/>
              </a:rPr>
              <a:t>Cost</a:t>
            </a:r>
          </a:p>
          <a:p>
            <a:pPr algn="ctr">
              <a:spcAft>
                <a:spcPts val="200"/>
              </a:spcAft>
            </a:pPr>
            <a:r>
              <a:rPr sz="1200" b="0" i="0">
                <a:solidFill>
                  <a:srgbClr val="1F2937"/>
                </a:solidFill>
                <a:latin typeface="Calibri"/>
              </a:rPr>
              <a:t>offer + contact</a:t>
            </a:r>
          </a:p>
        </p:txBody>
      </p:sp>
      <p:sp>
        <p:nvSpPr>
          <p:cNvPr id="13" name="TextBox 12"/>
          <p:cNvSpPr txBox="1"/>
          <p:nvPr/>
        </p:nvSpPr>
        <p:spPr>
          <a:xfrm>
            <a:off x="9281159" y="4069080"/>
            <a:ext cx="411480" cy="123444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4" name="Rounded Rectangle 13"/>
          <p:cNvSpPr/>
          <p:nvPr/>
        </p:nvSpPr>
        <p:spPr>
          <a:xfrm>
            <a:off x="9692640" y="4069080"/>
            <a:ext cx="1874519" cy="1234440"/>
          </a:xfrm>
          <a:prstGeom prst="roundRect">
            <a:avLst>
              <a:gd name="adj" fmla="val 8000"/>
            </a:avLst>
          </a:prstGeom>
          <a:solidFill>
            <a:srgbClr val="BE1E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700" b="1" i="0">
                <a:solidFill>
                  <a:srgbClr val="FFFFFF"/>
                </a:solidFill>
                <a:latin typeface="Calibri"/>
              </a:rPr>
              <a:t>Offer if EV &gt; 0</a:t>
            </a:r>
          </a:p>
          <a:p>
            <a:pPr algn="ctr">
              <a:spcAft>
                <a:spcPts val="200"/>
              </a:spcAft>
            </a:pPr>
            <a:r>
              <a:rPr sz="1200" b="0" i="0">
                <a:solidFill>
                  <a:srgbClr val="FFFFFF"/>
                </a:solidFill>
                <a:latin typeface="Calibri"/>
              </a:rPr>
              <a:t>EV = p × q × V − cost</a:t>
            </a:r>
          </a:p>
        </p:txBody>
      </p:sp>
      <p:sp>
        <p:nvSpPr>
          <p:cNvPr id="15" name="TextBox 14"/>
          <p:cNvSpPr txBox="1"/>
          <p:nvPr/>
        </p:nvSpPr>
        <p:spPr>
          <a:xfrm>
            <a:off x="457200" y="5532120"/>
            <a:ext cx="11292840" cy="320040"/>
          </a:xfrm>
          <a:prstGeom prst="rect">
            <a:avLst/>
          </a:prstGeom>
          <a:noFill/>
        </p:spPr>
        <p:txBody>
          <a:bodyPr wrap="square" anchor="t">
            <a:spAutoFit/>
          </a:bodyPr>
          <a:lstStyle/>
          <a:p>
            <a:pPr algn="l">
              <a:spcAft>
                <a:spcPts val="600"/>
              </a:spcAft>
            </a:pPr>
            <a:r>
              <a:rPr sz="1200" b="0" i="0">
                <a:solidFill>
                  <a:srgbClr val="6B7280"/>
                </a:solidFill>
                <a:latin typeface="Calibri"/>
              </a:rPr>
              <a:t>Save rate = share of would-be leavers an offer keeps. Money in USD of the fictional sample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Data and Validation Design</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4</a:t>
            </a:r>
          </a:p>
        </p:txBody>
      </p:sp>
      <p:sp>
        <p:nvSpPr>
          <p:cNvPr id="4" name="Rounded Rectangle 3"/>
          <p:cNvSpPr/>
          <p:nvPr/>
        </p:nvSpPr>
        <p:spPr>
          <a:xfrm>
            <a:off x="457200" y="1280160"/>
            <a:ext cx="3383280"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7,043</a:t>
            </a:r>
          </a:p>
          <a:p>
            <a:pPr algn="ctr">
              <a:spcAft>
                <a:spcPts val="200"/>
              </a:spcAft>
            </a:pPr>
            <a:r>
              <a:rPr sz="1300" b="0" i="0">
                <a:solidFill>
                  <a:srgbClr val="1F2937"/>
                </a:solidFill>
                <a:latin typeface="Calibri"/>
              </a:rPr>
              <a:t>customers, IBM Telco sample (fictional US operator)</a:t>
            </a:r>
          </a:p>
        </p:txBody>
      </p:sp>
      <p:sp>
        <p:nvSpPr>
          <p:cNvPr id="5" name="Rounded Rectangle 4"/>
          <p:cNvSpPr/>
          <p:nvPr/>
        </p:nvSpPr>
        <p:spPr>
          <a:xfrm>
            <a:off x="457200" y="2743200"/>
            <a:ext cx="3383280"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26.5%</a:t>
            </a:r>
          </a:p>
          <a:p>
            <a:pPr algn="ctr">
              <a:spcAft>
                <a:spcPts val="200"/>
              </a:spcAft>
            </a:pPr>
            <a:r>
              <a:rPr sz="1300" b="0" i="0">
                <a:solidFill>
                  <a:srgbClr val="1F2937"/>
                </a:solidFill>
                <a:latin typeface="Calibri"/>
              </a:rPr>
              <a:t>churned in the sample window</a:t>
            </a:r>
          </a:p>
        </p:txBody>
      </p:sp>
      <p:sp>
        <p:nvSpPr>
          <p:cNvPr id="6" name="Rounded Rectangle 5"/>
          <p:cNvSpPr/>
          <p:nvPr/>
        </p:nvSpPr>
        <p:spPr>
          <a:xfrm>
            <a:off x="457200" y="4206240"/>
            <a:ext cx="3383280"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60 / 20 / 20</a:t>
            </a:r>
          </a:p>
          <a:p>
            <a:pPr algn="ctr">
              <a:spcAft>
                <a:spcPts val="200"/>
              </a:spcAft>
            </a:pPr>
            <a:r>
              <a:rPr sz="1300" b="0" i="0">
                <a:solidFill>
                  <a:srgbClr val="1F2937"/>
                </a:solidFill>
                <a:latin typeface="Calibri"/>
              </a:rPr>
              <a:t>train / validation / test, stratified</a:t>
            </a:r>
          </a:p>
        </p:txBody>
      </p:sp>
      <p:graphicFrame>
        <p:nvGraphicFramePr>
          <p:cNvPr id="7" name="Table 6"/>
          <p:cNvGraphicFramePr>
            <a:graphicFrameLocks noGrp="1"/>
          </p:cNvGraphicFramePr>
          <p:nvPr/>
        </p:nvGraphicFramePr>
        <p:xfrm>
          <a:off x="4206240" y="1280160"/>
          <a:ext cx="7543800" cy="4206240"/>
        </p:xfrm>
        <a:graphic>
          <a:graphicData uri="http://schemas.openxmlformats.org/drawingml/2006/table">
            <a:tbl>
              <a:tblPr firstRow="1" bandRow="1">
                <a:tableStyleId>{5C22544A-7EE6-4342-B048-85BDC9FD1C3A}</a:tableStyleId>
              </a:tblPr>
              <a:tblGrid>
                <a:gridCol w="2240280"/>
                <a:gridCol w="5303520"/>
              </a:tblGrid>
              <a:tr h="525780">
                <a:tc>
                  <a:txBody>
                    <a:bodyPr wrap="square"/>
                    <a:lstStyle/>
                    <a:p>
                      <a:pPr algn="l"/>
                      <a:r>
                        <a:rPr sz="1500" b="1" i="0">
                          <a:solidFill>
                            <a:srgbClr val="FFFFFF"/>
                          </a:solidFill>
                          <a:latin typeface="Calibri"/>
                        </a:rPr>
                        <a:t>Item</a:t>
                      </a:r>
                    </a:p>
                  </a:txBody>
                  <a:tcPr marL="91440" marR="91440" marT="27432" marB="27432" anchor="ctr">
                    <a:solidFill>
                      <a:srgbClr val="0B2E63"/>
                    </a:solidFill>
                  </a:tcPr>
                </a:tc>
                <a:tc>
                  <a:txBody>
                    <a:bodyPr wrap="square"/>
                    <a:lstStyle/>
                    <a:p>
                      <a:pPr algn="l"/>
                      <a:r>
                        <a:rPr sz="1500" b="1" i="0">
                          <a:solidFill>
                            <a:srgbClr val="FFFFFF"/>
                          </a:solidFill>
                          <a:latin typeface="Calibri"/>
                        </a:rPr>
                        <a:t>Decision</a:t>
                      </a:r>
                    </a:p>
                  </a:txBody>
                  <a:tcPr marL="91440" marR="91440" marT="27432" marB="27432" anchor="ctr">
                    <a:solidFill>
                      <a:srgbClr val="0B2E63"/>
                    </a:solidFill>
                  </a:tcPr>
                </a:tc>
              </a:tr>
              <a:tr h="525780">
                <a:tc>
                  <a:txBody>
                    <a:bodyPr wrap="square"/>
                    <a:lstStyle/>
                    <a:p>
                      <a:pPr algn="l"/>
                      <a:r>
                        <a:rPr sz="1400" b="0" i="0">
                          <a:solidFill>
                            <a:srgbClr val="1F2937"/>
                          </a:solidFill>
                          <a:latin typeface="Calibri"/>
                        </a:rPr>
                        <a:t>Unit of analysis</a:t>
                      </a:r>
                    </a:p>
                  </a:txBody>
                  <a:tcPr marL="91440" marR="91440" marT="27432" marB="27432" anchor="ctr">
                    <a:solidFill>
                      <a:srgbClr val="EEF2F8"/>
                    </a:solidFill>
                  </a:tcPr>
                </a:tc>
                <a:tc>
                  <a:txBody>
                    <a:bodyPr wrap="square"/>
                    <a:lstStyle/>
                    <a:p>
                      <a:pPr algn="l"/>
                      <a:r>
                        <a:rPr sz="1400" b="0" i="0">
                          <a:solidFill>
                            <a:srgbClr val="1F2937"/>
                          </a:solidFill>
                          <a:latin typeface="Calibri"/>
                        </a:rPr>
                        <a:t>One customer</a:t>
                      </a:r>
                    </a:p>
                  </a:txBody>
                  <a:tcPr marL="91440" marR="91440" marT="27432" marB="27432" anchor="ctr">
                    <a:solidFill>
                      <a:srgbClr val="EEF2F8"/>
                    </a:solidFill>
                  </a:tcPr>
                </a:tc>
              </a:tr>
              <a:tr h="525780">
                <a:tc>
                  <a:txBody>
                    <a:bodyPr wrap="square"/>
                    <a:lstStyle/>
                    <a:p>
                      <a:pPr algn="l"/>
                      <a:r>
                        <a:rPr sz="1400" b="0" i="0">
                          <a:solidFill>
                            <a:srgbClr val="1F2937"/>
                          </a:solidFill>
                          <a:latin typeface="Calibri"/>
                        </a:rPr>
                        <a:t>Target</a:t>
                      </a:r>
                    </a:p>
                  </a:txBody>
                  <a:tcPr marL="91440" marR="91440" marT="27432" marB="27432" anchor="ctr">
                    <a:solidFill>
                      <a:srgbClr val="FFFFFF"/>
                    </a:solidFill>
                  </a:tcPr>
                </a:tc>
                <a:tc>
                  <a:txBody>
                    <a:bodyPr wrap="square"/>
                    <a:lstStyle/>
                    <a:p>
                      <a:pPr algn="l"/>
                      <a:r>
                        <a:rPr sz="1400" b="0" i="0">
                          <a:solidFill>
                            <a:srgbClr val="1F2937"/>
                          </a:solidFill>
                          <a:latin typeface="Calibri"/>
                        </a:rPr>
                        <a:t>Churn: left during the sample window (yes / no)</a:t>
                      </a:r>
                    </a:p>
                  </a:txBody>
                  <a:tcPr marL="91440" marR="91440" marT="27432" marB="27432" anchor="ctr">
                    <a:solidFill>
                      <a:srgbClr val="FFFFFF"/>
                    </a:solidFill>
                  </a:tcPr>
                </a:tc>
              </a:tr>
              <a:tr h="525780">
                <a:tc>
                  <a:txBody>
                    <a:bodyPr wrap="square"/>
                    <a:lstStyle/>
                    <a:p>
                      <a:pPr algn="l"/>
                      <a:r>
                        <a:rPr sz="1400" b="0" i="0">
                          <a:solidFill>
                            <a:srgbClr val="1F2937"/>
                          </a:solidFill>
                          <a:latin typeface="Calibri"/>
                        </a:rPr>
                        <a:t>Decision</a:t>
                      </a:r>
                    </a:p>
                  </a:txBody>
                  <a:tcPr marL="91440" marR="91440" marT="27432" marB="27432" anchor="ctr">
                    <a:solidFill>
                      <a:srgbClr val="EEF2F8"/>
                    </a:solidFill>
                  </a:tcPr>
                </a:tc>
                <a:tc>
                  <a:txBody>
                    <a:bodyPr wrap="square"/>
                    <a:lstStyle/>
                    <a:p>
                      <a:pPr algn="l"/>
                      <a:r>
                        <a:rPr sz="1400" b="0" i="0">
                          <a:solidFill>
                            <a:srgbClr val="1F2937"/>
                          </a:solidFill>
                          <a:latin typeface="Calibri"/>
                        </a:rPr>
                        <a:t>Offer or not, and which offer, within the budget</a:t>
                      </a:r>
                    </a:p>
                  </a:txBody>
                  <a:tcPr marL="91440" marR="91440" marT="27432" marB="27432" anchor="ctr">
                    <a:solidFill>
                      <a:srgbClr val="EEF2F8"/>
                    </a:solidFill>
                  </a:tcPr>
                </a:tc>
              </a:tr>
              <a:tr h="525780">
                <a:tc>
                  <a:txBody>
                    <a:bodyPr wrap="square"/>
                    <a:lstStyle/>
                    <a:p>
                      <a:pPr algn="l"/>
                      <a:r>
                        <a:rPr sz="1400" b="0" i="0">
                          <a:solidFill>
                            <a:srgbClr val="1F2937"/>
                          </a:solidFill>
                          <a:latin typeface="Calibri"/>
                        </a:rPr>
                        <a:t>Data quality</a:t>
                      </a:r>
                    </a:p>
                  </a:txBody>
                  <a:tcPr marL="91440" marR="91440" marT="27432" marB="27432" anchor="ctr">
                    <a:solidFill>
                      <a:srgbClr val="FFFFFF"/>
                    </a:solidFill>
                  </a:tcPr>
                </a:tc>
                <a:tc>
                  <a:txBody>
                    <a:bodyPr wrap="square"/>
                    <a:lstStyle/>
                    <a:p>
                      <a:pPr algn="l"/>
                      <a:r>
                        <a:rPr sz="1400" b="0" i="0">
                          <a:solidFill>
                            <a:srgbClr val="1F2937"/>
                          </a:solidFill>
                          <a:latin typeface="Calibri"/>
                        </a:rPr>
                        <a:t>0 duplicates; 11 blank TotalCharges (tenure 0) set to 0</a:t>
                      </a:r>
                    </a:p>
                  </a:txBody>
                  <a:tcPr marL="91440" marR="91440" marT="27432" marB="27432" anchor="ctr">
                    <a:solidFill>
                      <a:srgbClr val="FFFFFF"/>
                    </a:solidFill>
                  </a:tcPr>
                </a:tc>
              </a:tr>
              <a:tr h="525780">
                <a:tc>
                  <a:txBody>
                    <a:bodyPr wrap="square"/>
                    <a:lstStyle/>
                    <a:p>
                      <a:pPr algn="l"/>
                      <a:r>
                        <a:rPr sz="1400" b="0" i="0">
                          <a:solidFill>
                            <a:srgbClr val="1F2937"/>
                          </a:solidFill>
                          <a:latin typeface="Calibri"/>
                        </a:rPr>
                        <a:t>Leakage control</a:t>
                      </a:r>
                    </a:p>
                  </a:txBody>
                  <a:tcPr marL="91440" marR="91440" marT="27432" marB="27432" anchor="ctr">
                    <a:solidFill>
                      <a:srgbClr val="EEF2F8"/>
                    </a:solidFill>
                  </a:tcPr>
                </a:tc>
                <a:tc>
                  <a:txBody>
                    <a:bodyPr wrap="square"/>
                    <a:lstStyle/>
                    <a:p>
                      <a:pPr algn="l"/>
                      <a:r>
                        <a:rPr sz="1400" b="0" i="0">
                          <a:solidFill>
                            <a:srgbClr val="1F2937"/>
                          </a:solidFill>
                          <a:latin typeface="Calibri"/>
                        </a:rPr>
                        <a:t>Churn reasons and IBM score excluded; TotalCharges dropped</a:t>
                      </a:r>
                    </a:p>
                  </a:txBody>
                  <a:tcPr marL="91440" marR="91440" marT="27432" marB="27432" anchor="ctr">
                    <a:solidFill>
                      <a:srgbClr val="EEF2F8"/>
                    </a:solidFill>
                  </a:tcPr>
                </a:tc>
              </a:tr>
              <a:tr h="525780">
                <a:tc>
                  <a:txBody>
                    <a:bodyPr wrap="square"/>
                    <a:lstStyle/>
                    <a:p>
                      <a:pPr algn="l"/>
                      <a:r>
                        <a:rPr sz="1400" b="0" i="0">
                          <a:solidFill>
                            <a:srgbClr val="1F2937"/>
                          </a:solidFill>
                          <a:latin typeface="Calibri"/>
                        </a:rPr>
                        <a:t>Validation</a:t>
                      </a:r>
                    </a:p>
                  </a:txBody>
                  <a:tcPr marL="91440" marR="91440" marT="27432" marB="27432" anchor="ctr">
                    <a:solidFill>
                      <a:srgbClr val="FFFFFF"/>
                    </a:solidFill>
                  </a:tcPr>
                </a:tc>
                <a:tc>
                  <a:txBody>
                    <a:bodyPr wrap="square"/>
                    <a:lstStyle/>
                    <a:p>
                      <a:pPr algn="l"/>
                      <a:r>
                        <a:rPr sz="1400" b="0" i="0">
                          <a:solidFill>
                            <a:srgbClr val="1F2937"/>
                          </a:solidFill>
                          <a:latin typeface="Calibri"/>
                        </a:rPr>
                        <a:t>4,225 / 1,409 / 1,409; test used once</a:t>
                      </a:r>
                    </a:p>
                  </a:txBody>
                  <a:tcPr marL="91440" marR="91440" marT="27432" marB="27432" anchor="ctr">
                    <a:solidFill>
                      <a:srgbClr val="FFFFFF"/>
                    </a:solidFill>
                  </a:tcPr>
                </a:tc>
              </a:tr>
              <a:tr h="525780">
                <a:tc>
                  <a:txBody>
                    <a:bodyPr wrap="square"/>
                    <a:lstStyle/>
                    <a:p>
                      <a:pPr algn="l"/>
                      <a:r>
                        <a:rPr sz="1400" b="0" i="0">
                          <a:solidFill>
                            <a:srgbClr val="1F2937"/>
                          </a:solidFill>
                          <a:latin typeface="Calibri"/>
                        </a:rPr>
                        <a:t>Fairness</a:t>
                      </a:r>
                    </a:p>
                  </a:txBody>
                  <a:tcPr marL="91440" marR="91440" marT="27432" marB="27432" anchor="ctr">
                    <a:solidFill>
                      <a:srgbClr val="EEF2F8"/>
                    </a:solidFill>
                  </a:tcPr>
                </a:tc>
                <a:tc>
                  <a:txBody>
                    <a:bodyPr wrap="square"/>
                    <a:lstStyle/>
                    <a:p>
                      <a:pPr algn="l"/>
                      <a:r>
                        <a:rPr sz="1400" b="0" i="0">
                          <a:solidFill>
                            <a:srgbClr val="1F2937"/>
                          </a:solidFill>
                          <a:latin typeface="Calibri"/>
                        </a:rPr>
                        <a:t>Gender and senior status audited, never model inputs</a:t>
                      </a:r>
                    </a:p>
                  </a:txBody>
                  <a:tcPr marL="91440" marR="91440" marT="27432" marB="27432" anchor="ctr">
                    <a:solidFill>
                      <a:srgbClr val="EEF2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Key Insight: Churn Risk Is Not Customer Value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5</a:t>
            </a:r>
          </a:p>
        </p:txBody>
      </p:sp>
      <p:pic>
        <p:nvPicPr>
          <p:cNvPr id="4" name="Picture 3" descr="risk_value.png"/>
          <p:cNvPicPr>
            <a:picLocks noChangeAspect="1"/>
          </p:cNvPicPr>
          <p:nvPr/>
        </p:nvPicPr>
        <p:blipFill>
          <a:blip r:embed="rId3"/>
          <a:stretch>
            <a:fillRect/>
          </a:stretch>
        </p:blipFill>
        <p:spPr>
          <a:xfrm>
            <a:off x="457200" y="1188720"/>
            <a:ext cx="6835877" cy="4709160"/>
          </a:xfrm>
          <a:prstGeom prst="rect">
            <a:avLst/>
          </a:prstGeom>
        </p:spPr>
      </p:pic>
      <p:sp>
        <p:nvSpPr>
          <p:cNvPr id="5" name="Rounded Rectangle 4"/>
          <p:cNvSpPr/>
          <p:nvPr/>
        </p:nvSpPr>
        <p:spPr>
          <a:xfrm>
            <a:off x="7589520" y="1280160"/>
            <a:ext cx="416052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46%</a:t>
            </a:r>
          </a:p>
          <a:p>
            <a:pPr algn="ctr">
              <a:spcAft>
                <a:spcPts val="200"/>
              </a:spcAft>
            </a:pPr>
            <a:r>
              <a:rPr sz="1300" b="0" i="0">
                <a:solidFill>
                  <a:srgbClr val="1F2937"/>
                </a:solidFill>
                <a:latin typeface="Calibri"/>
              </a:rPr>
              <a:t>of value at risk sits with high-risk, low-value customers, each worth little</a:t>
            </a:r>
          </a:p>
        </p:txBody>
      </p:sp>
      <p:sp>
        <p:nvSpPr>
          <p:cNvPr id="6" name="Rounded Rectangle 5"/>
          <p:cNvSpPr/>
          <p:nvPr/>
        </p:nvSpPr>
        <p:spPr>
          <a:xfrm>
            <a:off x="7589520" y="2834640"/>
            <a:ext cx="416052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57</a:t>
            </a:r>
          </a:p>
          <a:p>
            <a:pPr algn="ctr">
              <a:spcAft>
                <a:spcPts val="200"/>
              </a:spcAft>
            </a:pPr>
            <a:r>
              <a:rPr sz="1300" b="0" i="0">
                <a:solidFill>
                  <a:srgbClr val="1F2937"/>
                </a:solidFill>
                <a:latin typeface="Calibri"/>
              </a:rPr>
              <a:t>test customers are high-risk and high-value; risk-only targeting reaches 12%</a:t>
            </a:r>
          </a:p>
        </p:txBody>
      </p:sp>
      <p:sp>
        <p:nvSpPr>
          <p:cNvPr id="7" name="TextBox 6"/>
          <p:cNvSpPr txBox="1"/>
          <p:nvPr/>
        </p:nvSpPr>
        <p:spPr>
          <a:xfrm>
            <a:off x="7589520" y="4389120"/>
            <a:ext cx="4160520" cy="146304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Churn: month-to-month 43% vs two-year 3%</a:t>
            </a:r>
          </a:p>
          <a:p>
            <a:pPr algn="l" marL="228600" indent="-228600">
              <a:spcAft>
                <a:spcPts val="400"/>
              </a:spcAft>
              <a:buClr>
                <a:srgbClr val="0B2E63"/>
              </a:buClr>
              <a:buSzPts val="1400"/>
              <a:buFont typeface="Arial"/>
              <a:buChar char="•"/>
            </a:pPr>
            <a:r>
              <a:rPr sz="1400" b="0" i="0">
                <a:solidFill>
                  <a:srgbClr val="1F2937"/>
                </a:solidFill>
                <a:latin typeface="Calibri"/>
              </a:rPr>
              <a:t>New customers 48%, fibre 42%, electronic check 46%</a:t>
            </a:r>
          </a:p>
          <a:p>
            <a:pPr algn="l" marL="228600" indent="-228600">
              <a:spcAft>
                <a:spcPts val="400"/>
              </a:spcAft>
              <a:buClr>
                <a:srgbClr val="0B2E63"/>
              </a:buClr>
              <a:buSzPts val="1400"/>
              <a:buFont typeface="Arial"/>
              <a:buChar char="•"/>
            </a:pPr>
            <a:r>
              <a:rPr sz="1400" b="0" i="0">
                <a:solidFill>
                  <a:srgbClr val="1F2937"/>
                </a:solidFill>
                <a:latin typeface="Calibri"/>
              </a:rPr>
              <a:t>Associations, not causes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62856" y="402336"/>
            <a:ext cx="7388352" cy="438912"/>
          </a:xfrm>
          <a:prstGeom prst="rect">
            <a:avLst/>
          </a:prstGeom>
          <a:noFill/>
        </p:spPr>
        <p:txBody>
          <a:bodyPr wrap="square" anchor="t">
            <a:spAutoFit/>
          </a:bodyPr>
          <a:lstStyle/>
          <a:p>
            <a:pPr algn="l">
              <a:spcAft>
                <a:spcPts val="600"/>
              </a:spcAft>
            </a:pPr>
            <a:r>
              <a:rPr sz="2800" b="1" i="0">
                <a:solidFill>
                  <a:srgbClr val="0B2E63"/>
                </a:solidFill>
                <a:latin typeface="Calibri"/>
              </a:rPr>
              <a:t>Outline</a:t>
            </a:r>
          </a:p>
        </p:txBody>
      </p:sp>
      <p:sp>
        <p:nvSpPr>
          <p:cNvPr id="3" name="Rounded Rectangle 2"/>
          <p:cNvSpPr/>
          <p:nvPr/>
        </p:nvSpPr>
        <p:spPr>
          <a:xfrm>
            <a:off x="4553712" y="1188720"/>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  </a:t>
            </a:r>
            <a:r>
              <a:rPr sz="2200" b="0" i="0">
                <a:solidFill>
                  <a:srgbClr val="6B7280"/>
                </a:solidFill>
                <a:latin typeface="Calibri"/>
              </a:rPr>
              <a:t>Business problem</a:t>
            </a:r>
          </a:p>
          <a:p>
            <a:pPr algn="l">
              <a:spcAft>
                <a:spcPts val="0"/>
              </a:spcAft>
            </a:pPr>
            <a:r>
              <a:rPr sz="1400" b="0" i="0">
                <a:solidFill>
                  <a:srgbClr val="6B7280"/>
                </a:solidFill>
                <a:latin typeface="Calibri"/>
              </a:rPr>
              <a:t>Decision, data, risk versus value</a:t>
            </a:r>
          </a:p>
        </p:txBody>
      </p:sp>
      <p:sp>
        <p:nvSpPr>
          <p:cNvPr id="4" name="Rounded Rectangle 3"/>
          <p:cNvSpPr/>
          <p:nvPr/>
        </p:nvSpPr>
        <p:spPr>
          <a:xfrm>
            <a:off x="4553712" y="2167128"/>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  </a:t>
            </a:r>
            <a:r>
              <a:rPr sz="2200" b="1" i="0">
                <a:solidFill>
                  <a:srgbClr val="0B2E63"/>
                </a:solidFill>
                <a:latin typeface="Calibri"/>
              </a:rPr>
              <a:t>Model and decision rule</a:t>
            </a:r>
          </a:p>
          <a:p>
            <a:pPr algn="l">
              <a:spcAft>
                <a:spcPts val="0"/>
              </a:spcAft>
            </a:pPr>
            <a:r>
              <a:rPr sz="1400" b="0" i="0">
                <a:solidFill>
                  <a:srgbClr val="1F2937"/>
                </a:solidFill>
                <a:latin typeface="Calibri"/>
              </a:rPr>
              <a:t>Calibrated churn model, expected value, optimiser</a:t>
            </a:r>
          </a:p>
        </p:txBody>
      </p:sp>
      <p:sp>
        <p:nvSpPr>
          <p:cNvPr id="5" name="Rounded Rectangle 4"/>
          <p:cNvSpPr/>
          <p:nvPr/>
        </p:nvSpPr>
        <p:spPr>
          <a:xfrm>
            <a:off x="4553712" y="3145536"/>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III.  </a:t>
            </a:r>
            <a:r>
              <a:rPr sz="2200" b="0" i="0">
                <a:solidFill>
                  <a:srgbClr val="6B7280"/>
                </a:solidFill>
                <a:latin typeface="Calibri"/>
              </a:rPr>
              <a:t>Results and robustness</a:t>
            </a:r>
          </a:p>
          <a:p>
            <a:pPr algn="l">
              <a:spcAft>
                <a:spcPts val="0"/>
              </a:spcAft>
            </a:pPr>
            <a:r>
              <a:rPr sz="1400" b="0" i="0">
                <a:solidFill>
                  <a:srgbClr val="6B7280"/>
                </a:solidFill>
                <a:latin typeface="Calibri"/>
              </a:rPr>
              <a:t>Same-budget comparison, budget size, sensitivity</a:t>
            </a:r>
          </a:p>
        </p:txBody>
      </p:sp>
      <p:sp>
        <p:nvSpPr>
          <p:cNvPr id="6" name="Rounded Rectangle 5"/>
          <p:cNvSpPr/>
          <p:nvPr/>
        </p:nvSpPr>
        <p:spPr>
          <a:xfrm>
            <a:off x="4553712" y="4123944"/>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IV.  </a:t>
            </a:r>
            <a:r>
              <a:rPr sz="2200" b="0" i="0">
                <a:solidFill>
                  <a:srgbClr val="6B7280"/>
                </a:solidFill>
                <a:latin typeface="Calibri"/>
              </a:rPr>
              <a:t>Recommendation and demo</a:t>
            </a:r>
          </a:p>
          <a:p>
            <a:pPr algn="l">
              <a:spcAft>
                <a:spcPts val="0"/>
              </a:spcAft>
            </a:pPr>
            <a:r>
              <a:rPr sz="1400" b="0" i="0">
                <a:solidFill>
                  <a:srgbClr val="6B7280"/>
                </a:solidFill>
                <a:latin typeface="Calibri"/>
              </a:rPr>
              <a:t>Randomised pilot, live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Churn Model: Simple, Calibrated, Good Enough</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7</a:t>
            </a:r>
          </a:p>
        </p:txBody>
      </p:sp>
      <p:graphicFrame>
        <p:nvGraphicFramePr>
          <p:cNvPr id="4" name="Table 3"/>
          <p:cNvGraphicFramePr>
            <a:graphicFrameLocks noGrp="1"/>
          </p:cNvGraphicFramePr>
          <p:nvPr/>
        </p:nvGraphicFramePr>
        <p:xfrm>
          <a:off x="457200" y="1280160"/>
          <a:ext cx="7498080" cy="2834640"/>
        </p:xfrm>
        <a:graphic>
          <a:graphicData uri="http://schemas.openxmlformats.org/drawingml/2006/table">
            <a:tbl>
              <a:tblPr firstRow="1" bandRow="1">
                <a:tableStyleId>{5C22544A-7EE6-4342-B048-85BDC9FD1C3A}</a:tableStyleId>
              </a:tblPr>
              <a:tblGrid>
                <a:gridCol w="3017520"/>
                <a:gridCol w="1143000"/>
                <a:gridCol w="1143000"/>
                <a:gridCol w="1097280"/>
                <a:gridCol w="1097280"/>
              </a:tblGrid>
              <a:tr h="566928">
                <a:tc>
                  <a:txBody>
                    <a:bodyPr wrap="square"/>
                    <a:lstStyle/>
                    <a:p>
                      <a:pPr algn="l"/>
                      <a:r>
                        <a:rPr sz="1600" b="1" i="0">
                          <a:solidFill>
                            <a:srgbClr val="FFFFFF"/>
                          </a:solidFill>
                          <a:latin typeface="Calibri"/>
                        </a:rPr>
                        <a:t>Model (test split)</a:t>
                      </a:r>
                    </a:p>
                  </a:txBody>
                  <a:tcPr marL="91440" marR="91440" marT="27432" marB="27432" anchor="ctr">
                    <a:solidFill>
                      <a:srgbClr val="0B2E63"/>
                    </a:solidFill>
                  </a:tcPr>
                </a:tc>
                <a:tc>
                  <a:txBody>
                    <a:bodyPr wrap="square"/>
                    <a:lstStyle/>
                    <a:p>
                      <a:pPr algn="r"/>
                      <a:r>
                        <a:rPr sz="1600" b="1" i="0">
                          <a:solidFill>
                            <a:srgbClr val="FFFFFF"/>
                          </a:solidFill>
                          <a:latin typeface="Calibri"/>
                        </a:rPr>
                        <a:t>PR-AUC</a:t>
                      </a:r>
                    </a:p>
                  </a:txBody>
                  <a:tcPr marL="91440" marR="91440" marT="27432" marB="27432" anchor="ctr">
                    <a:solidFill>
                      <a:srgbClr val="0B2E63"/>
                    </a:solidFill>
                  </a:tcPr>
                </a:tc>
                <a:tc>
                  <a:txBody>
                    <a:bodyPr wrap="square"/>
                    <a:lstStyle/>
                    <a:p>
                      <a:pPr algn="r"/>
                      <a:r>
                        <a:rPr sz="1600" b="1" i="0">
                          <a:solidFill>
                            <a:srgbClr val="FFFFFF"/>
                          </a:solidFill>
                          <a:latin typeface="Calibri"/>
                        </a:rPr>
                        <a:t>ROC-AUC</a:t>
                      </a:r>
                    </a:p>
                  </a:txBody>
                  <a:tcPr marL="91440" marR="91440" marT="27432" marB="27432" anchor="ctr">
                    <a:solidFill>
                      <a:srgbClr val="0B2E63"/>
                    </a:solidFill>
                  </a:tcPr>
                </a:tc>
                <a:tc>
                  <a:txBody>
                    <a:bodyPr wrap="square"/>
                    <a:lstStyle/>
                    <a:p>
                      <a:pPr algn="r"/>
                      <a:r>
                        <a:rPr sz="1600" b="1" i="0">
                          <a:solidFill>
                            <a:srgbClr val="FFFFFF"/>
                          </a:solidFill>
                          <a:latin typeface="Calibri"/>
                        </a:rPr>
                        <a:t>Brier</a:t>
                      </a:r>
                    </a:p>
                  </a:txBody>
                  <a:tcPr marL="91440" marR="91440" marT="27432" marB="27432" anchor="ctr">
                    <a:solidFill>
                      <a:srgbClr val="0B2E63"/>
                    </a:solidFill>
                  </a:tcPr>
                </a:tc>
                <a:tc>
                  <a:txBody>
                    <a:bodyPr wrap="square"/>
                    <a:lstStyle/>
                    <a:p>
                      <a:pPr algn="r"/>
                      <a:r>
                        <a:rPr sz="1600" b="1" i="0">
                          <a:solidFill>
                            <a:srgbClr val="FFFFFF"/>
                          </a:solidFill>
                          <a:latin typeface="Calibri"/>
                        </a:rPr>
                        <a:t>ECE</a:t>
                      </a:r>
                    </a:p>
                  </a:txBody>
                  <a:tcPr marL="91440" marR="91440" marT="27432" marB="27432" anchor="ctr">
                    <a:solidFill>
                      <a:srgbClr val="0B2E63"/>
                    </a:solidFill>
                  </a:tcPr>
                </a:tc>
              </a:tr>
              <a:tr h="566928">
                <a:tc>
                  <a:txBody>
                    <a:bodyPr wrap="square"/>
                    <a:lstStyle/>
                    <a:p>
                      <a:pPr algn="l"/>
                      <a:r>
                        <a:rPr sz="1500" b="0" i="0">
                          <a:solidFill>
                            <a:srgbClr val="1F2937"/>
                          </a:solidFill>
                          <a:latin typeface="Calibri"/>
                        </a:rPr>
                        <a:t>Prior-only baseline</a:t>
                      </a:r>
                    </a:p>
                  </a:txBody>
                  <a:tcPr marL="91440" marR="91440" marT="27432" marB="27432" anchor="ctr">
                    <a:solidFill>
                      <a:srgbClr val="EEF2F8"/>
                    </a:solidFill>
                  </a:tcPr>
                </a:tc>
                <a:tc>
                  <a:txBody>
                    <a:bodyPr wrap="square"/>
                    <a:lstStyle/>
                    <a:p>
                      <a:pPr algn="r"/>
                      <a:r>
                        <a:rPr sz="1500" b="0" i="0">
                          <a:solidFill>
                            <a:srgbClr val="1F2937"/>
                          </a:solidFill>
                          <a:latin typeface="Calibri"/>
                        </a:rPr>
                        <a:t>0.265</a:t>
                      </a:r>
                    </a:p>
                  </a:txBody>
                  <a:tcPr marL="91440" marR="91440" marT="27432" marB="27432" anchor="ctr">
                    <a:solidFill>
                      <a:srgbClr val="EEF2F8"/>
                    </a:solidFill>
                  </a:tcPr>
                </a:tc>
                <a:tc>
                  <a:txBody>
                    <a:bodyPr wrap="square"/>
                    <a:lstStyle/>
                    <a:p>
                      <a:pPr algn="r"/>
                      <a:r>
                        <a:rPr sz="1500" b="0" i="0">
                          <a:solidFill>
                            <a:srgbClr val="1F2937"/>
                          </a:solidFill>
                          <a:latin typeface="Calibri"/>
                        </a:rPr>
                        <a:t>0.500</a:t>
                      </a:r>
                    </a:p>
                  </a:txBody>
                  <a:tcPr marL="91440" marR="91440" marT="27432" marB="27432" anchor="ctr">
                    <a:solidFill>
                      <a:srgbClr val="EEF2F8"/>
                    </a:solidFill>
                  </a:tcPr>
                </a:tc>
                <a:tc>
                  <a:txBody>
                    <a:bodyPr wrap="square"/>
                    <a:lstStyle/>
                    <a:p>
                      <a:pPr algn="r"/>
                      <a:r>
                        <a:rPr sz="1500" b="0" i="0">
                          <a:solidFill>
                            <a:srgbClr val="1F2937"/>
                          </a:solidFill>
                          <a:latin typeface="Calibri"/>
                        </a:rPr>
                        <a:t>0.195</a:t>
                      </a:r>
                    </a:p>
                  </a:txBody>
                  <a:tcPr marL="91440" marR="91440" marT="27432" marB="27432" anchor="ctr">
                    <a:solidFill>
                      <a:srgbClr val="EEF2F8"/>
                    </a:solidFill>
                  </a:tcPr>
                </a:tc>
                <a:tc>
                  <a:txBody>
                    <a:bodyPr wrap="square"/>
                    <a:lstStyle/>
                    <a:p>
                      <a:pPr algn="r"/>
                      <a:r>
                        <a:rPr sz="1500" b="0" i="0">
                          <a:solidFill>
                            <a:srgbClr val="1F2937"/>
                          </a:solidFill>
                          <a:latin typeface="Calibri"/>
                        </a:rPr>
                        <a:t>0.022</a:t>
                      </a:r>
                    </a:p>
                  </a:txBody>
                  <a:tcPr marL="91440" marR="91440" marT="27432" marB="27432" anchor="ctr">
                    <a:solidFill>
                      <a:srgbClr val="EEF2F8"/>
                    </a:solidFill>
                  </a:tcPr>
                </a:tc>
              </a:tr>
              <a:tr h="566928">
                <a:tc>
                  <a:txBody>
                    <a:bodyPr wrap="square"/>
                    <a:lstStyle/>
                    <a:p>
                      <a:pPr algn="l"/>
                      <a:r>
                        <a:rPr sz="1500" b="1" i="0">
                          <a:solidFill>
                            <a:srgbClr val="0B2E63"/>
                          </a:solidFill>
                          <a:latin typeface="Calibri"/>
                        </a:rPr>
                        <a:t>Logistic regression</a:t>
                      </a:r>
                    </a:p>
                  </a:txBody>
                  <a:tcPr marL="91440" marR="91440" marT="27432" marB="27432" anchor="ctr">
                    <a:solidFill>
                      <a:srgbClr val="FFFFFF"/>
                    </a:solidFill>
                  </a:tcPr>
                </a:tc>
                <a:tc>
                  <a:txBody>
                    <a:bodyPr wrap="square"/>
                    <a:lstStyle/>
                    <a:p>
                      <a:pPr algn="r"/>
                      <a:r>
                        <a:rPr sz="1500" b="1" i="0">
                          <a:solidFill>
                            <a:srgbClr val="BE1E2D"/>
                          </a:solidFill>
                          <a:latin typeface="Calibri"/>
                        </a:rPr>
                        <a:t>0.620</a:t>
                      </a:r>
                    </a:p>
                  </a:txBody>
                  <a:tcPr marL="91440" marR="91440" marT="27432" marB="27432" anchor="ctr">
                    <a:solidFill>
                      <a:srgbClr val="FFFFFF"/>
                    </a:solidFill>
                  </a:tcPr>
                </a:tc>
                <a:tc>
                  <a:txBody>
                    <a:bodyPr wrap="square"/>
                    <a:lstStyle/>
                    <a:p>
                      <a:pPr algn="r"/>
                      <a:r>
                        <a:rPr sz="1500" b="1" i="0">
                          <a:solidFill>
                            <a:srgbClr val="BE1E2D"/>
                          </a:solidFill>
                          <a:latin typeface="Calibri"/>
                        </a:rPr>
                        <a:t>0.830</a:t>
                      </a:r>
                    </a:p>
                  </a:txBody>
                  <a:tcPr marL="91440" marR="91440" marT="27432" marB="27432" anchor="ctr">
                    <a:solidFill>
                      <a:srgbClr val="FFFFFF"/>
                    </a:solidFill>
                  </a:tcPr>
                </a:tc>
                <a:tc>
                  <a:txBody>
                    <a:bodyPr wrap="square"/>
                    <a:lstStyle/>
                    <a:p>
                      <a:pPr algn="r"/>
                      <a:r>
                        <a:rPr sz="1500" b="1" i="0">
                          <a:solidFill>
                            <a:srgbClr val="BE1E2D"/>
                          </a:solidFill>
                          <a:latin typeface="Calibri"/>
                        </a:rPr>
                        <a:t>0.142</a:t>
                      </a:r>
                    </a:p>
                  </a:txBody>
                  <a:tcPr marL="91440" marR="91440" marT="27432" marB="27432" anchor="ctr">
                    <a:solidFill>
                      <a:srgbClr val="FFFFFF"/>
                    </a:solidFill>
                  </a:tcPr>
                </a:tc>
                <a:tc>
                  <a:txBody>
                    <a:bodyPr wrap="square"/>
                    <a:lstStyle/>
                    <a:p>
                      <a:pPr algn="r"/>
                      <a:r>
                        <a:rPr sz="1500" b="1" i="0">
                          <a:solidFill>
                            <a:srgbClr val="BE1E2D"/>
                          </a:solidFill>
                          <a:latin typeface="Calibri"/>
                        </a:rPr>
                        <a:t>0.019</a:t>
                      </a:r>
                    </a:p>
                  </a:txBody>
                  <a:tcPr marL="91440" marR="91440" marT="27432" marB="27432" anchor="ctr">
                    <a:solidFill>
                      <a:srgbClr val="FFFFFF"/>
                    </a:solidFill>
                  </a:tcPr>
                </a:tc>
              </a:tr>
              <a:tr h="566928">
                <a:tc>
                  <a:txBody>
                    <a:bodyPr wrap="square"/>
                    <a:lstStyle/>
                    <a:p>
                      <a:pPr algn="l"/>
                      <a:r>
                        <a:rPr sz="1500" b="0" i="0">
                          <a:solidFill>
                            <a:srgbClr val="1F2937"/>
                          </a:solidFill>
                          <a:latin typeface="Calibri"/>
                        </a:rPr>
                        <a:t>Random forest</a:t>
                      </a:r>
                    </a:p>
                  </a:txBody>
                  <a:tcPr marL="91440" marR="91440" marT="27432" marB="27432" anchor="ctr">
                    <a:solidFill>
                      <a:srgbClr val="EEF2F8"/>
                    </a:solidFill>
                  </a:tcPr>
                </a:tc>
                <a:tc>
                  <a:txBody>
                    <a:bodyPr wrap="square"/>
                    <a:lstStyle/>
                    <a:p>
                      <a:pPr algn="r"/>
                      <a:r>
                        <a:rPr sz="1500" b="0" i="0">
                          <a:solidFill>
                            <a:srgbClr val="1F2937"/>
                          </a:solidFill>
                          <a:latin typeface="Calibri"/>
                        </a:rPr>
                        <a:t>0.621</a:t>
                      </a:r>
                    </a:p>
                  </a:txBody>
                  <a:tcPr marL="91440" marR="91440" marT="27432" marB="27432" anchor="ctr">
                    <a:solidFill>
                      <a:srgbClr val="EEF2F8"/>
                    </a:solidFill>
                  </a:tcPr>
                </a:tc>
                <a:tc>
                  <a:txBody>
                    <a:bodyPr wrap="square"/>
                    <a:lstStyle/>
                    <a:p>
                      <a:pPr algn="r"/>
                      <a:r>
                        <a:rPr sz="1500" b="0" i="0">
                          <a:solidFill>
                            <a:srgbClr val="1F2937"/>
                          </a:solidFill>
                          <a:latin typeface="Calibri"/>
                        </a:rPr>
                        <a:t>0.832</a:t>
                      </a:r>
                    </a:p>
                  </a:txBody>
                  <a:tcPr marL="91440" marR="91440" marT="27432" marB="27432" anchor="ctr">
                    <a:solidFill>
                      <a:srgbClr val="EEF2F8"/>
                    </a:solidFill>
                  </a:tcPr>
                </a:tc>
                <a:tc>
                  <a:txBody>
                    <a:bodyPr wrap="square"/>
                    <a:lstStyle/>
                    <a:p>
                      <a:pPr algn="r"/>
                      <a:r>
                        <a:rPr sz="1500" b="0" i="0">
                          <a:solidFill>
                            <a:srgbClr val="1F2937"/>
                          </a:solidFill>
                          <a:latin typeface="Calibri"/>
                        </a:rPr>
                        <a:t>0.144</a:t>
                      </a:r>
                    </a:p>
                  </a:txBody>
                  <a:tcPr marL="91440" marR="91440" marT="27432" marB="27432" anchor="ctr">
                    <a:solidFill>
                      <a:srgbClr val="EEF2F8"/>
                    </a:solidFill>
                  </a:tcPr>
                </a:tc>
                <a:tc>
                  <a:txBody>
                    <a:bodyPr wrap="square"/>
                    <a:lstStyle/>
                    <a:p>
                      <a:pPr algn="r"/>
                      <a:r>
                        <a:rPr sz="1500" b="0" i="0">
                          <a:solidFill>
                            <a:srgbClr val="1F2937"/>
                          </a:solidFill>
                          <a:latin typeface="Calibri"/>
                        </a:rPr>
                        <a:t>0.045</a:t>
                      </a:r>
                    </a:p>
                  </a:txBody>
                  <a:tcPr marL="91440" marR="91440" marT="27432" marB="27432" anchor="ctr">
                    <a:solidFill>
                      <a:srgbClr val="EEF2F8"/>
                    </a:solidFill>
                  </a:tcPr>
                </a:tc>
              </a:tr>
              <a:tr h="566928">
                <a:tc>
                  <a:txBody>
                    <a:bodyPr wrap="square"/>
                    <a:lstStyle/>
                    <a:p>
                      <a:pPr algn="l"/>
                      <a:r>
                        <a:rPr sz="1500" b="0" i="0">
                          <a:solidFill>
                            <a:srgbClr val="1F2937"/>
                          </a:solidFill>
                          <a:latin typeface="Calibri"/>
                        </a:rPr>
                        <a:t>XGBoost</a:t>
                      </a:r>
                    </a:p>
                  </a:txBody>
                  <a:tcPr marL="91440" marR="91440" marT="27432" marB="27432" anchor="ctr">
                    <a:solidFill>
                      <a:srgbClr val="FFFFFF"/>
                    </a:solidFill>
                  </a:tcPr>
                </a:tc>
                <a:tc>
                  <a:txBody>
                    <a:bodyPr wrap="square"/>
                    <a:lstStyle/>
                    <a:p>
                      <a:pPr algn="r"/>
                      <a:r>
                        <a:rPr sz="1500" b="0" i="0">
                          <a:solidFill>
                            <a:srgbClr val="1F2937"/>
                          </a:solidFill>
                          <a:latin typeface="Calibri"/>
                        </a:rPr>
                        <a:t>0.613</a:t>
                      </a:r>
                    </a:p>
                  </a:txBody>
                  <a:tcPr marL="91440" marR="91440" marT="27432" marB="27432" anchor="ctr">
                    <a:solidFill>
                      <a:srgbClr val="FFFFFF"/>
                    </a:solidFill>
                  </a:tcPr>
                </a:tc>
                <a:tc>
                  <a:txBody>
                    <a:bodyPr wrap="square"/>
                    <a:lstStyle/>
                    <a:p>
                      <a:pPr algn="r"/>
                      <a:r>
                        <a:rPr sz="1500" b="0" i="0">
                          <a:solidFill>
                            <a:srgbClr val="1F2937"/>
                          </a:solidFill>
                          <a:latin typeface="Calibri"/>
                        </a:rPr>
                        <a:t>0.826</a:t>
                      </a:r>
                    </a:p>
                  </a:txBody>
                  <a:tcPr marL="91440" marR="91440" marT="27432" marB="27432" anchor="ctr">
                    <a:solidFill>
                      <a:srgbClr val="FFFFFF"/>
                    </a:solidFill>
                  </a:tcPr>
                </a:tc>
                <a:tc>
                  <a:txBody>
                    <a:bodyPr wrap="square"/>
                    <a:lstStyle/>
                    <a:p>
                      <a:pPr algn="r"/>
                      <a:r>
                        <a:rPr sz="1500" b="0" i="0">
                          <a:solidFill>
                            <a:srgbClr val="1F2937"/>
                          </a:solidFill>
                          <a:latin typeface="Calibri"/>
                        </a:rPr>
                        <a:t>0.145</a:t>
                      </a:r>
                    </a:p>
                  </a:txBody>
                  <a:tcPr marL="91440" marR="91440" marT="27432" marB="27432" anchor="ctr">
                    <a:solidFill>
                      <a:srgbClr val="FFFFFF"/>
                    </a:solidFill>
                  </a:tcPr>
                </a:tc>
                <a:tc>
                  <a:txBody>
                    <a:bodyPr wrap="square"/>
                    <a:lstStyle/>
                    <a:p>
                      <a:pPr algn="r"/>
                      <a:r>
                        <a:rPr sz="1500" b="0" i="0">
                          <a:solidFill>
                            <a:srgbClr val="1F2937"/>
                          </a:solidFill>
                          <a:latin typeface="Calibri"/>
                        </a:rPr>
                        <a:t>0.044</a:t>
                      </a:r>
                    </a:p>
                  </a:txBody>
                  <a:tcPr marL="91440" marR="91440" marT="27432" marB="27432" anchor="ctr">
                    <a:solidFill>
                      <a:srgbClr val="FFFFFF"/>
                    </a:solidFill>
                  </a:tcPr>
                </a:tc>
              </a:tr>
            </a:tbl>
          </a:graphicData>
        </a:graphic>
      </p:graphicFrame>
      <p:sp>
        <p:nvSpPr>
          <p:cNvPr id="5" name="TextBox 4"/>
          <p:cNvSpPr txBox="1"/>
          <p:nvPr/>
        </p:nvSpPr>
        <p:spPr>
          <a:xfrm>
            <a:off x="457200" y="4206240"/>
            <a:ext cx="7498079" cy="320040"/>
          </a:xfrm>
          <a:prstGeom prst="rect">
            <a:avLst/>
          </a:prstGeom>
          <a:noFill/>
        </p:spPr>
        <p:txBody>
          <a:bodyPr wrap="square" anchor="t">
            <a:spAutoFit/>
          </a:bodyPr>
          <a:lstStyle/>
          <a:p>
            <a:pPr algn="l">
              <a:spcAft>
                <a:spcPts val="600"/>
              </a:spcAft>
            </a:pPr>
            <a:r>
              <a:rPr sz="1200" b="0" i="0">
                <a:solidFill>
                  <a:srgbClr val="6B7280"/>
                </a:solidFill>
                <a:latin typeface="Calibri"/>
              </a:rPr>
              <a:t>1,409 test customers held out from every choice; calibrated models; the baseline predicts the churn rate for everyone</a:t>
            </a:r>
          </a:p>
        </p:txBody>
      </p:sp>
      <p:sp>
        <p:nvSpPr>
          <p:cNvPr id="6" name="Rounded Rectangle 5"/>
          <p:cNvSpPr/>
          <p:nvPr/>
        </p:nvSpPr>
        <p:spPr>
          <a:xfrm>
            <a:off x="457200" y="4617720"/>
            <a:ext cx="2377440"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2400" b="1" i="0">
                <a:solidFill>
                  <a:srgbClr val="BE1E2D"/>
                </a:solidFill>
                <a:latin typeface="Calibri"/>
              </a:rPr>
              <a:t>×3.7</a:t>
            </a:r>
          </a:p>
          <a:p>
            <a:pPr algn="ctr">
              <a:spcAft>
                <a:spcPts val="200"/>
              </a:spcAft>
            </a:pPr>
            <a:r>
              <a:rPr sz="1200" b="0" i="0">
                <a:solidFill>
                  <a:srgbClr val="1F2937"/>
                </a:solidFill>
                <a:latin typeface="Calibri"/>
              </a:rPr>
              <a:t>odds: month-to-month vs two-year contract</a:t>
            </a:r>
          </a:p>
        </p:txBody>
      </p:sp>
      <p:sp>
        <p:nvSpPr>
          <p:cNvPr id="7" name="Rounded Rectangle 6"/>
          <p:cNvSpPr/>
          <p:nvPr/>
        </p:nvSpPr>
        <p:spPr>
          <a:xfrm>
            <a:off x="3017520" y="4617720"/>
            <a:ext cx="2377440"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2400" b="1" i="0">
                <a:solidFill>
                  <a:srgbClr val="BE1E2D"/>
                </a:solidFill>
                <a:latin typeface="Calibri"/>
              </a:rPr>
              <a:t>×2.9</a:t>
            </a:r>
          </a:p>
          <a:p>
            <a:pPr algn="ctr">
              <a:spcAft>
                <a:spcPts val="200"/>
              </a:spcAft>
            </a:pPr>
            <a:r>
              <a:rPr sz="1200" b="0" i="0">
                <a:solidFill>
                  <a:srgbClr val="1F2937"/>
                </a:solidFill>
                <a:latin typeface="Calibri"/>
              </a:rPr>
              <a:t>odds: fibre vs no internet</a:t>
            </a:r>
          </a:p>
        </p:txBody>
      </p:sp>
      <p:sp>
        <p:nvSpPr>
          <p:cNvPr id="8" name="Rounded Rectangle 7"/>
          <p:cNvSpPr/>
          <p:nvPr/>
        </p:nvSpPr>
        <p:spPr>
          <a:xfrm>
            <a:off x="5577840" y="4617720"/>
            <a:ext cx="2377440" cy="12344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2400" b="1" i="0">
                <a:solidFill>
                  <a:srgbClr val="BE1E2D"/>
                </a:solidFill>
                <a:latin typeface="Calibri"/>
              </a:rPr>
              <a:t>×0.69</a:t>
            </a:r>
          </a:p>
          <a:p>
            <a:pPr algn="ctr">
              <a:spcAft>
                <a:spcPts val="200"/>
              </a:spcAft>
            </a:pPr>
            <a:r>
              <a:rPr sz="1200" b="0" i="0">
                <a:solidFill>
                  <a:srgbClr val="1F2937"/>
                </a:solidFill>
                <a:latin typeface="Calibri"/>
              </a:rPr>
              <a:t>odds per extra 12 months of tenure</a:t>
            </a:r>
          </a:p>
        </p:txBody>
      </p:sp>
      <p:sp>
        <p:nvSpPr>
          <p:cNvPr id="9" name="Rounded Rectangle 8"/>
          <p:cNvSpPr/>
          <p:nvPr/>
        </p:nvSpPr>
        <p:spPr>
          <a:xfrm>
            <a:off x="8321040" y="1280160"/>
            <a:ext cx="342900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0.83</a:t>
            </a:r>
          </a:p>
          <a:p>
            <a:pPr algn="ctr">
              <a:spcAft>
                <a:spcPts val="200"/>
              </a:spcAft>
            </a:pPr>
            <a:r>
              <a:rPr sz="1300" b="0" i="0">
                <a:solidFill>
                  <a:srgbClr val="1F2937"/>
                </a:solidFill>
                <a:latin typeface="Calibri"/>
              </a:rPr>
              <a:t>ROC-AUC; PR-AUC 0.62 vs 0.27 baseline</a:t>
            </a:r>
          </a:p>
        </p:txBody>
      </p:sp>
      <p:sp>
        <p:nvSpPr>
          <p:cNvPr id="10" name="Rounded Rectangle 9"/>
          <p:cNvSpPr/>
          <p:nvPr/>
        </p:nvSpPr>
        <p:spPr>
          <a:xfrm>
            <a:off x="8321040" y="2834640"/>
            <a:ext cx="342900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0.019</a:t>
            </a:r>
          </a:p>
          <a:p>
            <a:pPr algn="ctr">
              <a:spcAft>
                <a:spcPts val="200"/>
              </a:spcAft>
            </a:pPr>
            <a:r>
              <a:rPr sz="1300" b="0" i="0">
                <a:solidFill>
                  <a:srgbClr val="1F2937"/>
                </a:solidFill>
                <a:latin typeface="Calibri"/>
              </a:rPr>
              <a:t>calibration error: probabilities fit to multiply by money</a:t>
            </a:r>
          </a:p>
        </p:txBody>
      </p:sp>
      <p:sp>
        <p:nvSpPr>
          <p:cNvPr id="11" name="TextBox 10"/>
          <p:cNvSpPr txBox="1"/>
          <p:nvPr/>
        </p:nvSpPr>
        <p:spPr>
          <a:xfrm>
            <a:off x="8321040" y="4389120"/>
            <a:ext cx="3429000" cy="146304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Logistic regression chosen by a rule fixed in advance: tree models did not rank better</a:t>
            </a:r>
          </a:p>
          <a:p>
            <a:pPr algn="l" marL="228600" indent="-228600">
              <a:spcAft>
                <a:spcPts val="400"/>
              </a:spcAft>
              <a:buClr>
                <a:srgbClr val="0B2E63"/>
              </a:buClr>
              <a:buSzPts val="1400"/>
              <a:buFont typeface="Arial"/>
              <a:buChar char="•"/>
            </a:pPr>
            <a:r>
              <a:rPr sz="1400" b="0" i="0">
                <a:solidFill>
                  <a:srgbClr val="1F2937"/>
                </a:solidFill>
                <a:latin typeface="Calibri"/>
              </a:rPr>
              <a:t>Drivers are associations, not causes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From Probability to Offer: Expected Value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8</a:t>
            </a:r>
          </a:p>
        </p:txBody>
      </p:sp>
      <p:sp>
        <p:nvSpPr>
          <p:cNvPr id="4" name="Rounded Rectangle 3"/>
          <p:cNvSpPr/>
          <p:nvPr/>
        </p:nvSpPr>
        <p:spPr>
          <a:xfrm>
            <a:off x="457200" y="1280160"/>
            <a:ext cx="11292840" cy="91440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2400" b="1" i="0">
                <a:solidFill>
                  <a:srgbClr val="FFFFFF"/>
                </a:solidFill>
                <a:latin typeface="Calibri"/>
              </a:rPr>
              <a:t>EV  =  p(churn)  ×  save rate  ×  customer value  −  (offer cost + contact cost)</a:t>
            </a:r>
          </a:p>
        </p:txBody>
      </p:sp>
      <p:sp>
        <p:nvSpPr>
          <p:cNvPr id="5" name="Rounded Rectangle 4"/>
          <p:cNvSpPr/>
          <p:nvPr/>
        </p:nvSpPr>
        <p:spPr>
          <a:xfrm>
            <a:off x="457200" y="2468880"/>
            <a:ext cx="3611880" cy="30175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73152" bIns="73152"/>
          <a:lstStyle/>
          <a:p>
            <a:pPr algn="l">
              <a:spcAft>
                <a:spcPts val="1000"/>
              </a:spcAft>
            </a:pPr>
            <a:r>
              <a:rPr sz="2000" b="1" i="0">
                <a:solidFill>
                  <a:srgbClr val="0B2E63"/>
                </a:solidFill>
                <a:latin typeface="Calibri"/>
              </a:rPr>
              <a:t>Customer value</a:t>
            </a:r>
          </a:p>
          <a:p>
            <a:pPr algn="l">
              <a:spcAft>
                <a:spcPts val="1000"/>
              </a:spcAft>
            </a:pPr>
            <a:r>
              <a:rPr sz="1700" b="0" i="0">
                <a:solidFill>
                  <a:srgbClr val="1F2937"/>
                </a:solidFill>
                <a:latin typeface="Calibri"/>
              </a:rPr>
              <a:t>Monthly bill × 30% margin × discounted 12 months</a:t>
            </a:r>
          </a:p>
          <a:p>
            <a:pPr algn="l">
              <a:spcAft>
                <a:spcPts val="1000"/>
              </a:spcAft>
            </a:pPr>
            <a:r>
              <a:rPr sz="1700" b="0" i="0">
                <a:solidFill>
                  <a:srgbClr val="1F2937"/>
                </a:solidFill>
                <a:latin typeface="Calibri"/>
              </a:rPr>
              <a:t>Horizon ×0.75 for new and ×1.25 for loyal customers</a:t>
            </a:r>
          </a:p>
          <a:p>
            <a:pPr algn="l">
              <a:spcAft>
                <a:spcPts val="1000"/>
              </a:spcAft>
            </a:pPr>
            <a:r>
              <a:rPr sz="1700" b="0" i="0">
                <a:solidFill>
                  <a:srgbClr val="1F2937"/>
                </a:solidFill>
                <a:latin typeface="Calibri"/>
              </a:rPr>
              <a:t>10% annual discount rate</a:t>
            </a:r>
          </a:p>
        </p:txBody>
      </p:sp>
      <p:sp>
        <p:nvSpPr>
          <p:cNvPr id="6" name="Rounded Rectangle 5"/>
          <p:cNvSpPr/>
          <p:nvPr/>
        </p:nvSpPr>
        <p:spPr>
          <a:xfrm>
            <a:off x="4297680" y="2468880"/>
            <a:ext cx="3611880" cy="30175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73152" bIns="73152"/>
          <a:lstStyle/>
          <a:p>
            <a:pPr algn="l">
              <a:spcAft>
                <a:spcPts val="800"/>
              </a:spcAft>
            </a:pPr>
            <a:r>
              <a:rPr sz="2000" b="1" i="0">
                <a:solidFill>
                  <a:srgbClr val="0B2E63"/>
                </a:solidFill>
                <a:latin typeface="Calibri"/>
              </a:rPr>
              <a:t>Offer catalogue (assumed)</a:t>
            </a:r>
          </a:p>
          <a:p>
            <a:pPr algn="l">
              <a:spcAft>
                <a:spcPts val="800"/>
              </a:spcAft>
            </a:pPr>
            <a:r>
              <a:rPr sz="1600" b="0" i="0">
                <a:solidFill>
                  <a:srgbClr val="1F2937"/>
                </a:solidFill>
                <a:latin typeface="Calibri"/>
              </a:rPr>
              <a:t>$35 credit for moving to a 1-year contract: save rate 30%</a:t>
            </a:r>
          </a:p>
          <a:p>
            <a:pPr algn="l">
              <a:spcAft>
                <a:spcPts val="800"/>
              </a:spcAft>
            </a:pPr>
            <a:r>
              <a:rPr sz="1600" b="0" i="0">
                <a:solidFill>
                  <a:srgbClr val="1F2937"/>
                </a:solidFill>
                <a:latin typeface="Calibri"/>
              </a:rPr>
              <a:t>6 months free TechSupport + OnlineSecurity: 15%</a:t>
            </a:r>
          </a:p>
          <a:p>
            <a:pPr algn="l">
              <a:spcAft>
                <a:spcPts val="800"/>
              </a:spcAft>
            </a:pPr>
            <a:r>
              <a:rPr sz="1600" b="0" i="0">
                <a:solidFill>
                  <a:srgbClr val="1F2937"/>
                </a:solidFill>
                <a:latin typeface="Calibri"/>
              </a:rPr>
              <a:t>One-time $20 bill credit: 20%</a:t>
            </a:r>
          </a:p>
          <a:p>
            <a:pPr algn="l">
              <a:spcAft>
                <a:spcPts val="800"/>
              </a:spcAft>
            </a:pPr>
            <a:r>
              <a:rPr sz="1600" b="0" i="0">
                <a:solidFill>
                  <a:srgbClr val="1F2937"/>
                </a:solidFill>
                <a:latin typeface="Calibri"/>
              </a:rPr>
              <a:t>Plus $5 contact cost per customer</a:t>
            </a:r>
          </a:p>
        </p:txBody>
      </p:sp>
      <p:sp>
        <p:nvSpPr>
          <p:cNvPr id="7" name="Rounded Rectangle 6"/>
          <p:cNvSpPr/>
          <p:nvPr/>
        </p:nvSpPr>
        <p:spPr>
          <a:xfrm>
            <a:off x="8138160" y="2468880"/>
            <a:ext cx="3611880" cy="30175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73152" bIns="73152"/>
          <a:lstStyle/>
          <a:p>
            <a:pPr algn="l">
              <a:spcAft>
                <a:spcPts val="1000"/>
              </a:spcAft>
            </a:pPr>
            <a:r>
              <a:rPr sz="2000" b="1" i="0">
                <a:solidFill>
                  <a:srgbClr val="0B2E63"/>
                </a:solidFill>
                <a:latin typeface="Calibri"/>
              </a:rPr>
              <a:t>Optimiser</a:t>
            </a:r>
          </a:p>
          <a:p>
            <a:pPr algn="l">
              <a:spcAft>
                <a:spcPts val="1000"/>
              </a:spcAft>
            </a:pPr>
            <a:r>
              <a:rPr sz="1700" b="0" i="0">
                <a:solidFill>
                  <a:srgbClr val="1F2937"/>
                </a:solidFill>
                <a:latin typeface="Calibri"/>
              </a:rPr>
              <a:t>Integer program maximises total EV within the budget</a:t>
            </a:r>
          </a:p>
          <a:p>
            <a:pPr algn="l">
              <a:spcAft>
                <a:spcPts val="1000"/>
              </a:spcAft>
            </a:pPr>
            <a:r>
              <a:rPr sz="1700" b="0" i="0">
                <a:solidFill>
                  <a:srgbClr val="1F2937"/>
                </a:solidFill>
                <a:latin typeface="Calibri"/>
              </a:rPr>
              <a:t>One offer per customer; eligibility rules</a:t>
            </a:r>
          </a:p>
          <a:p>
            <a:pPr algn="l">
              <a:spcAft>
                <a:spcPts val="1000"/>
              </a:spcAft>
            </a:pPr>
            <a:r>
              <a:rPr sz="1700" b="0" i="0">
                <a:solidFill>
                  <a:srgbClr val="1F2937"/>
                </a:solidFill>
                <a:latin typeface="Calibri"/>
              </a:rPr>
              <a:t>At most 30% of customers contacted</a:t>
            </a:r>
          </a:p>
          <a:p>
            <a:pPr algn="l">
              <a:spcAft>
                <a:spcPts val="1000"/>
              </a:spcAft>
            </a:pPr>
            <a:r>
              <a:rPr sz="1700" b="0" i="0">
                <a:solidFill>
                  <a:srgbClr val="1F2937"/>
                </a:solidFill>
                <a:latin typeface="Calibri"/>
              </a:rPr>
              <a:t>EV ≤ 0: never contacted</a:t>
            </a:r>
          </a:p>
        </p:txBody>
      </p:sp>
      <p:sp>
        <p:nvSpPr>
          <p:cNvPr id="8" name="TextBox 7"/>
          <p:cNvSpPr txBox="1"/>
          <p:nvPr/>
        </p:nvSpPr>
        <p:spPr>
          <a:xfrm>
            <a:off x="457200" y="5623560"/>
            <a:ext cx="11292840" cy="320040"/>
          </a:xfrm>
          <a:prstGeom prst="rect">
            <a:avLst/>
          </a:prstGeom>
          <a:noFill/>
        </p:spPr>
        <p:txBody>
          <a:bodyPr wrap="square" anchor="t">
            <a:spAutoFit/>
          </a:bodyPr>
          <a:lstStyle/>
          <a:p>
            <a:pPr algn="l">
              <a:spcAft>
                <a:spcPts val="600"/>
              </a:spcAft>
            </a:pPr>
            <a:r>
              <a:rPr sz="1200" b="0" i="0">
                <a:solidFill>
                  <a:srgbClr val="6B7280"/>
                </a:solidFill>
                <a:latin typeface="Calibri"/>
              </a:rPr>
              <a:t>Save rates and costs are visible assumptions, not measurements: the data contain no randomised campaign, so no causal uplift is claimed.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Same Budget, $1,368 More Expected Value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9</a:t>
            </a:r>
          </a:p>
        </p:txBody>
      </p:sp>
      <p:graphicFrame>
        <p:nvGraphicFramePr>
          <p:cNvPr id="4" name="Chart 3"/>
          <p:cNvGraphicFramePr>
            <a:graphicFrameLocks noGrp="1"/>
          </p:cNvGraphicFramePr>
          <p:nvPr/>
        </p:nvGraphicFramePr>
        <p:xfrm>
          <a:off x="457200" y="1234440"/>
          <a:ext cx="6949440" cy="4343400"/>
        </p:xfrm>
        <a:graphic>
          <a:graphicData uri="http://schemas.openxmlformats.org/drawingml/2006/chart">
            <c:chart xmlns:c="http://schemas.openxmlformats.org/drawingml/2006/chart" r:id="rId3"/>
          </a:graphicData>
        </a:graphic>
      </p:graphicFrame>
      <p:sp>
        <p:nvSpPr>
          <p:cNvPr id="5" name="TextBox 4"/>
          <p:cNvSpPr txBox="1"/>
          <p:nvPr/>
        </p:nvSpPr>
        <p:spPr>
          <a:xfrm>
            <a:off x="457200" y="5623560"/>
            <a:ext cx="6949440" cy="320040"/>
          </a:xfrm>
          <a:prstGeom prst="rect">
            <a:avLst/>
          </a:prstGeom>
          <a:noFill/>
        </p:spPr>
        <p:txBody>
          <a:bodyPr wrap="square" anchor="t">
            <a:spAutoFit/>
          </a:bodyPr>
          <a:lstStyle/>
          <a:p>
            <a:pPr algn="l">
              <a:spcAft>
                <a:spcPts val="600"/>
              </a:spcAft>
            </a:pPr>
            <a:r>
              <a:rPr sz="1200" b="0" i="0">
                <a:solidFill>
                  <a:srgbClr val="6B7280"/>
                </a:solidFill>
                <a:latin typeface="Calibri"/>
              </a:rPr>
              <a:t>Expected values under the stated assumptions (USD, fictional sample company), not realised profit.</a:t>
            </a:r>
          </a:p>
        </p:txBody>
      </p:sp>
      <p:sp>
        <p:nvSpPr>
          <p:cNvPr id="6" name="Rounded Rectangle 5"/>
          <p:cNvSpPr/>
          <p:nvPr/>
        </p:nvSpPr>
        <p:spPr>
          <a:xfrm>
            <a:off x="7772400" y="1280160"/>
            <a:ext cx="3977639"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+$1,368</a:t>
            </a:r>
          </a:p>
          <a:p>
            <a:pPr algn="ctr">
              <a:spcAft>
                <a:spcPts val="200"/>
              </a:spcAft>
            </a:pPr>
            <a:r>
              <a:rPr sz="1300" b="0" i="0">
                <a:solidFill>
                  <a:srgbClr val="1F2937"/>
                </a:solidFill>
                <a:latin typeface="Calibri"/>
              </a:rPr>
              <a:t>vs the highest-risk rule; ROI 76% vs 37%</a:t>
            </a:r>
          </a:p>
        </p:txBody>
      </p:sp>
      <p:sp>
        <p:nvSpPr>
          <p:cNvPr id="7" name="Rounded Rectangle 6"/>
          <p:cNvSpPr/>
          <p:nvPr/>
        </p:nvSpPr>
        <p:spPr>
          <a:xfrm>
            <a:off x="7772400" y="2743200"/>
            <a:ext cx="3977639" cy="128016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+$1,077</a:t>
            </a:r>
          </a:p>
          <a:p>
            <a:pPr algn="ctr">
              <a:spcAft>
                <a:spcPts val="200"/>
              </a:spcAft>
            </a:pPr>
            <a:r>
              <a:rPr sz="1300" b="0" i="0">
                <a:solidFill>
                  <a:srgbClr val="1F2937"/>
                </a:solidFill>
                <a:latin typeface="Calibri"/>
              </a:rPr>
              <a:t>valued with actual churn; 95% interval $229 to $2,002</a:t>
            </a:r>
          </a:p>
        </p:txBody>
      </p:sp>
      <p:sp>
        <p:nvSpPr>
          <p:cNvPr id="8" name="TextBox 7"/>
          <p:cNvSpPr txBox="1"/>
          <p:nvPr/>
        </p:nvSpPr>
        <p:spPr>
          <a:xfrm>
            <a:off x="7772400" y="4206240"/>
            <a:ext cx="3977639" cy="164592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Risk-only is more precise (71% vs 60%) but spends on customers worth little</a:t>
            </a:r>
          </a:p>
          <a:p>
            <a:pPr algn="l" marL="228600" indent="-228600">
              <a:spcAft>
                <a:spcPts val="400"/>
              </a:spcAft>
              <a:buClr>
                <a:srgbClr val="0B2E63"/>
              </a:buClr>
              <a:buSzPts val="1400"/>
              <a:buFont typeface="Arial"/>
              <a:buChar char="•"/>
            </a:pPr>
            <a:r>
              <a:rPr sz="1400" b="0" i="0">
                <a:solidFill>
                  <a:srgbClr val="1F2937"/>
                </a:solidFill>
                <a:latin typeface="Calibri"/>
              </a:rPr>
              <a:t>Targets: 100% fibre, 97% month-to-month, median bill $89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62856" y="402336"/>
            <a:ext cx="7388352" cy="438912"/>
          </a:xfrm>
          <a:prstGeom prst="rect">
            <a:avLst/>
          </a:prstGeom>
          <a:noFill/>
        </p:spPr>
        <p:txBody>
          <a:bodyPr wrap="square" anchor="t">
            <a:spAutoFit/>
          </a:bodyPr>
          <a:lstStyle/>
          <a:p>
            <a:pPr algn="l">
              <a:spcAft>
                <a:spcPts val="600"/>
              </a:spcAft>
            </a:pPr>
            <a:r>
              <a:rPr sz="2800" b="1" i="0">
                <a:solidFill>
                  <a:srgbClr val="0B2E63"/>
                </a:solidFill>
                <a:latin typeface="Calibri"/>
              </a:rPr>
              <a:t>Outline</a:t>
            </a:r>
          </a:p>
        </p:txBody>
      </p:sp>
      <p:sp>
        <p:nvSpPr>
          <p:cNvPr id="3" name="Rounded Rectangle 2"/>
          <p:cNvSpPr/>
          <p:nvPr/>
        </p:nvSpPr>
        <p:spPr>
          <a:xfrm>
            <a:off x="4553712" y="1188720"/>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  </a:t>
            </a:r>
            <a:r>
              <a:rPr sz="2200" b="0" i="0">
                <a:solidFill>
                  <a:srgbClr val="6B7280"/>
                </a:solidFill>
                <a:latin typeface="Calibri"/>
              </a:rPr>
              <a:t>Business problem</a:t>
            </a:r>
          </a:p>
          <a:p>
            <a:pPr algn="l">
              <a:spcAft>
                <a:spcPts val="0"/>
              </a:spcAft>
            </a:pPr>
            <a:r>
              <a:rPr sz="1400" b="0" i="0">
                <a:solidFill>
                  <a:srgbClr val="6B7280"/>
                </a:solidFill>
                <a:latin typeface="Calibri"/>
              </a:rPr>
              <a:t>Decision, data, risk versus value</a:t>
            </a:r>
          </a:p>
        </p:txBody>
      </p:sp>
      <p:sp>
        <p:nvSpPr>
          <p:cNvPr id="4" name="Rounded Rectangle 3"/>
          <p:cNvSpPr/>
          <p:nvPr/>
        </p:nvSpPr>
        <p:spPr>
          <a:xfrm>
            <a:off x="4553712" y="2167128"/>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II.  </a:t>
            </a:r>
            <a:r>
              <a:rPr sz="2200" b="0" i="0">
                <a:solidFill>
                  <a:srgbClr val="6B7280"/>
                </a:solidFill>
                <a:latin typeface="Calibri"/>
              </a:rPr>
              <a:t>Model and decision rule</a:t>
            </a:r>
          </a:p>
          <a:p>
            <a:pPr algn="l">
              <a:spcAft>
                <a:spcPts val="0"/>
              </a:spcAft>
            </a:pPr>
            <a:r>
              <a:rPr sz="1400" b="0" i="0">
                <a:solidFill>
                  <a:srgbClr val="6B7280"/>
                </a:solidFill>
                <a:latin typeface="Calibri"/>
              </a:rPr>
              <a:t>Calibrated churn model, expected value, optimiser</a:t>
            </a:r>
          </a:p>
        </p:txBody>
      </p:sp>
      <p:sp>
        <p:nvSpPr>
          <p:cNvPr id="5" name="Rounded Rectangle 4"/>
          <p:cNvSpPr/>
          <p:nvPr/>
        </p:nvSpPr>
        <p:spPr>
          <a:xfrm>
            <a:off x="4553712" y="3145536"/>
            <a:ext cx="7223760" cy="859536"/>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BE1E2D"/>
                </a:solidFill>
                <a:latin typeface="Calibri"/>
              </a:rPr>
              <a:t>III.  </a:t>
            </a:r>
            <a:r>
              <a:rPr sz="2200" b="1" i="0">
                <a:solidFill>
                  <a:srgbClr val="0B2E63"/>
                </a:solidFill>
                <a:latin typeface="Calibri"/>
              </a:rPr>
              <a:t>Results and robustness</a:t>
            </a:r>
          </a:p>
          <a:p>
            <a:pPr algn="l">
              <a:spcAft>
                <a:spcPts val="0"/>
              </a:spcAft>
            </a:pPr>
            <a:r>
              <a:rPr sz="1400" b="0" i="0">
                <a:solidFill>
                  <a:srgbClr val="1F2937"/>
                </a:solidFill>
                <a:latin typeface="Calibri"/>
              </a:rPr>
              <a:t>Same-budget comparison, budget size, sensitivity</a:t>
            </a:r>
          </a:p>
        </p:txBody>
      </p:sp>
      <p:sp>
        <p:nvSpPr>
          <p:cNvPr id="6" name="Rounded Rectangle 5"/>
          <p:cNvSpPr/>
          <p:nvPr/>
        </p:nvSpPr>
        <p:spPr>
          <a:xfrm>
            <a:off x="4553712" y="4123944"/>
            <a:ext cx="7223760" cy="85953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164592" tIns="73152" bIns="73152"/>
          <a:lstStyle/>
          <a:p>
            <a:pPr algn="l">
              <a:spcAft>
                <a:spcPts val="0"/>
              </a:spcAft>
            </a:pPr>
            <a:r>
              <a:rPr sz="2200" b="1" i="0">
                <a:solidFill>
                  <a:srgbClr val="6B7280"/>
                </a:solidFill>
                <a:latin typeface="Calibri"/>
              </a:rPr>
              <a:t>IV.  </a:t>
            </a:r>
            <a:r>
              <a:rPr sz="2200" b="0" i="0">
                <a:solidFill>
                  <a:srgbClr val="6B7280"/>
                </a:solidFill>
                <a:latin typeface="Calibri"/>
              </a:rPr>
              <a:t>Recommendation and demo</a:t>
            </a:r>
          </a:p>
          <a:p>
            <a:pPr algn="l">
              <a:spcAft>
                <a:spcPts val="0"/>
              </a:spcAft>
            </a:pPr>
            <a:r>
              <a:rPr sz="1400" b="0" i="0">
                <a:solidFill>
                  <a:srgbClr val="6B7280"/>
                </a:solidFill>
                <a:latin typeface="Calibri"/>
              </a:rPr>
              <a:t>Randomised pilot, live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How Much to Spend: The Profit Curve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11</a:t>
            </a:r>
          </a:p>
        </p:txBody>
      </p:sp>
      <p:pic>
        <p:nvPicPr>
          <p:cNvPr id="4" name="Picture 3" descr="profit_curve.png"/>
          <p:cNvPicPr>
            <a:picLocks noChangeAspect="1"/>
          </p:cNvPicPr>
          <p:nvPr/>
        </p:nvPicPr>
        <p:blipFill>
          <a:blip r:embed="rId3"/>
          <a:stretch>
            <a:fillRect/>
          </a:stretch>
        </p:blipFill>
        <p:spPr>
          <a:xfrm>
            <a:off x="457200" y="1188720"/>
            <a:ext cx="6153149" cy="4663440"/>
          </a:xfrm>
          <a:prstGeom prst="rect">
            <a:avLst/>
          </a:prstGeom>
        </p:spPr>
      </p:pic>
      <p:sp>
        <p:nvSpPr>
          <p:cNvPr id="5" name="Rounded Rectangle 4"/>
          <p:cNvSpPr/>
          <p:nvPr/>
        </p:nvSpPr>
        <p:spPr>
          <a:xfrm>
            <a:off x="6949440" y="1280160"/>
            <a:ext cx="480060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26%</a:t>
            </a:r>
          </a:p>
          <a:p>
            <a:pPr algn="ctr">
              <a:spcAft>
                <a:spcPts val="200"/>
              </a:spcAft>
            </a:pPr>
            <a:r>
              <a:rPr sz="1300" b="0" i="0">
                <a:solidFill>
                  <a:srgbClr val="1F2937"/>
                </a:solidFill>
                <a:latin typeface="Calibri"/>
              </a:rPr>
              <a:t>budget share chosen on validation: the last step must still return ≥ 10%</a:t>
            </a:r>
          </a:p>
        </p:txBody>
      </p:sp>
      <p:sp>
        <p:nvSpPr>
          <p:cNvPr id="6" name="Rounded Rectangle 5"/>
          <p:cNvSpPr/>
          <p:nvPr/>
        </p:nvSpPr>
        <p:spPr>
          <a:xfrm>
            <a:off x="6949440" y="2788920"/>
            <a:ext cx="480060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$4,145</a:t>
            </a:r>
          </a:p>
          <a:p>
            <a:pPr algn="ctr">
              <a:spcAft>
                <a:spcPts val="200"/>
              </a:spcAft>
            </a:pPr>
            <a:r>
              <a:rPr sz="1300" b="0" i="0">
                <a:solidFill>
                  <a:srgbClr val="1F2937"/>
                </a:solidFill>
                <a:latin typeface="Calibri"/>
              </a:rPr>
              <a:t>expected net value on test: 324 offers for $9,150 (ROI 45%)</a:t>
            </a:r>
          </a:p>
        </p:txBody>
      </p:sp>
      <p:sp>
        <p:nvSpPr>
          <p:cNvPr id="7" name="TextBox 6"/>
          <p:cNvSpPr txBox="1"/>
          <p:nvPr/>
        </p:nvSpPr>
        <p:spPr>
          <a:xfrm>
            <a:off x="6949440" y="4297680"/>
            <a:ext cx="4800600" cy="1554480"/>
          </a:xfrm>
          <a:prstGeom prst="rect">
            <a:avLst/>
          </a:prstGeom>
          <a:noFill/>
        </p:spPr>
        <p:txBody>
          <a:bodyPr wrap="square" anchor="t">
            <a:spAutoFit/>
          </a:bodyPr>
          <a:lstStyle/>
          <a:p>
            <a:pPr algn="l" marL="228600" indent="-228600">
              <a:spcAft>
                <a:spcPts val="400"/>
              </a:spcAft>
              <a:buClr>
                <a:srgbClr val="0B2E63"/>
              </a:buClr>
              <a:buSzPts val="1400"/>
              <a:buFont typeface="Arial"/>
              <a:buChar char="•"/>
            </a:pPr>
            <a:r>
              <a:rPr sz="1400" b="0" i="0">
                <a:solidFill>
                  <a:srgbClr val="1F2937"/>
                </a:solidFill>
                <a:latin typeface="Calibri"/>
              </a:rPr>
              <a:t>About $45,737 for the 7,043-customer base ($6.49 per customer)</a:t>
            </a:r>
          </a:p>
          <a:p>
            <a:pPr algn="l" marL="228600" indent="-228600">
              <a:spcAft>
                <a:spcPts val="400"/>
              </a:spcAft>
              <a:buClr>
                <a:srgbClr val="0B2E63"/>
              </a:buClr>
              <a:buSzPts val="1400"/>
              <a:buFont typeface="Arial"/>
              <a:buChar char="•"/>
            </a:pPr>
            <a:r>
              <a:rPr sz="1400" b="0" i="0">
                <a:solidFill>
                  <a:srgbClr val="1F2937"/>
                </a:solidFill>
                <a:latin typeface="Calibri"/>
              </a:rPr>
              <a:t>Positive EV runs out at 371 test customers ($11,318); the hurdle stops earlier, where extra steps barely pay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How Sure Are We?</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12</a:t>
            </a:r>
          </a:p>
        </p:txBody>
      </p:sp>
      <p:sp>
        <p:nvSpPr>
          <p:cNvPr id="4" name="Rounded Rectangle 3"/>
          <p:cNvSpPr/>
          <p:nvPr/>
        </p:nvSpPr>
        <p:spPr>
          <a:xfrm>
            <a:off x="45720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99.96%</a:t>
            </a:r>
          </a:p>
          <a:p>
            <a:pPr algn="ctr">
              <a:spcAft>
                <a:spcPts val="200"/>
              </a:spcAft>
            </a:pPr>
            <a:r>
              <a:rPr sz="1400" b="0" i="0">
                <a:solidFill>
                  <a:srgbClr val="1F2937"/>
                </a:solidFill>
                <a:latin typeface="Calibri"/>
              </a:rPr>
              <a:t>of 5,000 draws: EV targeting beats risk-only</a:t>
            </a:r>
          </a:p>
        </p:txBody>
      </p:sp>
      <p:sp>
        <p:nvSpPr>
          <p:cNvPr id="5" name="Rounded Rectangle 4"/>
          <p:cNvSpPr/>
          <p:nvPr/>
        </p:nvSpPr>
        <p:spPr>
          <a:xfrm>
            <a:off x="333756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13.8%</a:t>
            </a:r>
          </a:p>
          <a:p>
            <a:pPr algn="ctr">
              <a:spcAft>
                <a:spcPts val="200"/>
              </a:spcAft>
            </a:pPr>
            <a:r>
              <a:rPr sz="1400" b="0" i="0">
                <a:solidFill>
                  <a:srgbClr val="1F2937"/>
                </a:solidFill>
                <a:latin typeface="Calibri"/>
              </a:rPr>
              <a:t>break-even save rate of the standard offer for the recommended list (assumed 20%)</a:t>
            </a:r>
          </a:p>
        </p:txBody>
      </p:sp>
      <p:sp>
        <p:nvSpPr>
          <p:cNvPr id="6" name="Rounded Rectangle 5"/>
          <p:cNvSpPr/>
          <p:nvPr/>
        </p:nvSpPr>
        <p:spPr>
          <a:xfrm>
            <a:off x="621792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17%</a:t>
            </a:r>
          </a:p>
          <a:p>
            <a:pPr algn="ctr">
              <a:spcAft>
                <a:spcPts val="200"/>
              </a:spcAft>
            </a:pPr>
            <a:r>
              <a:rPr sz="1400" b="0" i="0">
                <a:solidFill>
                  <a:srgbClr val="1F2937"/>
                </a:solidFill>
                <a:latin typeface="Calibri"/>
              </a:rPr>
              <a:t>chance the recommended list loses money</a:t>
            </a:r>
          </a:p>
        </p:txBody>
      </p:sp>
      <p:sp>
        <p:nvSpPr>
          <p:cNvPr id="7" name="Rounded Rectangle 6"/>
          <p:cNvSpPr/>
          <p:nvPr/>
        </p:nvSpPr>
        <p:spPr>
          <a:xfrm>
            <a:off x="9098280" y="1280160"/>
            <a:ext cx="265176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400" b="1" i="0">
                <a:solidFill>
                  <a:srgbClr val="BE1E2D"/>
                </a:solidFill>
                <a:latin typeface="Calibri"/>
              </a:rPr>
              <a:t>46%</a:t>
            </a:r>
          </a:p>
          <a:p>
            <a:pPr algn="ctr">
              <a:spcAft>
                <a:spcPts val="200"/>
              </a:spcAft>
            </a:pPr>
            <a:r>
              <a:rPr sz="1400" b="0" i="0">
                <a:solidFill>
                  <a:srgbClr val="1F2937"/>
                </a:solidFill>
                <a:latin typeface="Calibri"/>
              </a:rPr>
              <a:t>of churners left for price or a competitor: what an offer can address</a:t>
            </a:r>
          </a:p>
        </p:txBody>
      </p:sp>
      <p:sp>
        <p:nvSpPr>
          <p:cNvPr id="8" name="Rounded Rectangle 7"/>
          <p:cNvSpPr/>
          <p:nvPr/>
        </p:nvSpPr>
        <p:spPr>
          <a:xfrm>
            <a:off x="457200" y="3474720"/>
            <a:ext cx="11292840" cy="82296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2000" b="1" i="0">
                <a:solidFill>
                  <a:srgbClr val="FFFFFF"/>
                </a:solidFill>
                <a:latin typeface="Calibri"/>
              </a:rPr>
              <a:t>Who to target is robust; how much an offer saves is not, so measure it before scaling</a:t>
            </a:r>
          </a:p>
        </p:txBody>
      </p:sp>
      <p:sp>
        <p:nvSpPr>
          <p:cNvPr id="9" name="Rounded Rectangle 8"/>
          <p:cNvSpPr/>
          <p:nvPr/>
        </p:nvSpPr>
        <p:spPr>
          <a:xfrm>
            <a:off x="457200" y="4526280"/>
            <a:ext cx="553212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600" b="1" i="0">
                <a:solidFill>
                  <a:srgbClr val="0B2E63"/>
                </a:solidFill>
                <a:latin typeface="Calibri"/>
              </a:rPr>
              <a:t>Biggest sources of uncertainty</a:t>
            </a:r>
          </a:p>
          <a:p>
            <a:pPr algn="l">
              <a:spcAft>
                <a:spcPts val="300"/>
              </a:spcAft>
            </a:pPr>
            <a:r>
              <a:rPr sz="1400" b="0" i="0">
                <a:solidFill>
                  <a:srgbClr val="1F2937"/>
                </a:solidFill>
                <a:latin typeface="Calibri"/>
              </a:rPr>
              <a:t>Value horizon (months), save rate of the standard offer and contribution margin</a:t>
            </a:r>
          </a:p>
        </p:txBody>
      </p:sp>
      <p:sp>
        <p:nvSpPr>
          <p:cNvPr id="10" name="Rounded Rectangle 9"/>
          <p:cNvSpPr/>
          <p:nvPr/>
        </p:nvSpPr>
        <p:spPr>
          <a:xfrm>
            <a:off x="6217920" y="4526280"/>
            <a:ext cx="5532120" cy="132588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600" b="1" i="0">
                <a:solidFill>
                  <a:srgbClr val="0B2E63"/>
                </a:solidFill>
                <a:latin typeface="Calibri"/>
              </a:rPr>
              <a:t>Fairness check</a:t>
            </a:r>
          </a:p>
          <a:p>
            <a:pPr algn="l">
              <a:spcAft>
                <a:spcPts val="300"/>
              </a:spcAft>
            </a:pPr>
            <a:r>
              <a:rPr sz="1400" b="0" i="0">
                <a:solidFill>
                  <a:srgbClr val="1F2937"/>
                </a:solidFill>
                <a:latin typeface="Calibri"/>
              </a:rPr>
              <a:t>Seniors contacted 3.3× as often (1.7× after adjusting for risk); age and gender are not model inputs; every wave is reviewed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Recommendation: A Randomised Pilot Before Scaling</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13</a:t>
            </a:r>
          </a:p>
        </p:txBody>
      </p:sp>
      <p:sp>
        <p:nvSpPr>
          <p:cNvPr id="4" name="Rounded Rectangle 3"/>
          <p:cNvSpPr/>
          <p:nvPr/>
        </p:nvSpPr>
        <p:spPr>
          <a:xfrm>
            <a:off x="45720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Set-up</a:t>
            </a:r>
          </a:p>
          <a:p>
            <a:pPr algn="ctr">
              <a:spcAft>
                <a:spcPts val="200"/>
              </a:spcAft>
            </a:pPr>
            <a:r>
              <a:rPr sz="1600" b="1" i="0">
                <a:solidFill>
                  <a:srgbClr val="BE1E2D"/>
                </a:solidFill>
                <a:latin typeface="Calibri"/>
              </a:rPr>
              <a:t>4 weeks</a:t>
            </a:r>
          </a:p>
          <a:p>
            <a:pPr algn="ctr">
              <a:spcAft>
                <a:spcPts val="200"/>
              </a:spcAft>
            </a:pPr>
            <a:r>
              <a:rPr sz="1200" b="0" i="0">
                <a:solidFill>
                  <a:srgbClr val="1F2937"/>
                </a:solidFill>
                <a:latin typeface="Calibri"/>
              </a:rPr>
              <a:t>Retention, Legal/DPO, IT</a:t>
            </a:r>
          </a:p>
        </p:txBody>
      </p:sp>
      <p:sp>
        <p:nvSpPr>
          <p:cNvPr id="5" name="TextBox 4"/>
          <p:cNvSpPr txBox="1"/>
          <p:nvPr/>
        </p:nvSpPr>
        <p:spPr>
          <a:xfrm>
            <a:off x="2971800" y="1325880"/>
            <a:ext cx="411480" cy="141732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6" name="Rounded Rectangle 5"/>
          <p:cNvSpPr/>
          <p:nvPr/>
        </p:nvSpPr>
        <p:spPr>
          <a:xfrm>
            <a:off x="338328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Pilot wave</a:t>
            </a:r>
          </a:p>
          <a:p>
            <a:pPr algn="ctr">
              <a:spcAft>
                <a:spcPts val="200"/>
              </a:spcAft>
            </a:pPr>
            <a:r>
              <a:rPr sz="1600" b="1" i="0">
                <a:solidFill>
                  <a:srgbClr val="BE1E2D"/>
                </a:solidFill>
                <a:latin typeface="Calibri"/>
              </a:rPr>
              <a:t>13 weeks</a:t>
            </a:r>
          </a:p>
          <a:p>
            <a:pPr algn="ctr">
              <a:spcAft>
                <a:spcPts val="200"/>
              </a:spcAft>
            </a:pPr>
            <a:r>
              <a:rPr sz="1200" b="0" i="0">
                <a:solidFill>
                  <a:srgbClr val="1F2937"/>
                </a:solidFill>
                <a:latin typeface="Calibri"/>
              </a:rPr>
              <a:t>Call centre, Retention</a:t>
            </a:r>
          </a:p>
        </p:txBody>
      </p:sp>
      <p:sp>
        <p:nvSpPr>
          <p:cNvPr id="7" name="TextBox 6"/>
          <p:cNvSpPr txBox="1"/>
          <p:nvPr/>
        </p:nvSpPr>
        <p:spPr>
          <a:xfrm>
            <a:off x="5897880" y="1325880"/>
            <a:ext cx="411480" cy="141732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8" name="Rounded Rectangle 7"/>
          <p:cNvSpPr/>
          <p:nvPr/>
        </p:nvSpPr>
        <p:spPr>
          <a:xfrm>
            <a:off x="630936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Read-out</a:t>
            </a:r>
          </a:p>
          <a:p>
            <a:pPr algn="ctr">
              <a:spcAft>
                <a:spcPts val="200"/>
              </a:spcAft>
            </a:pPr>
            <a:r>
              <a:rPr sz="1600" b="1" i="0">
                <a:solidFill>
                  <a:srgbClr val="BE1E2D"/>
                </a:solidFill>
                <a:latin typeface="Calibri"/>
              </a:rPr>
              <a:t>2 weeks</a:t>
            </a:r>
          </a:p>
          <a:p>
            <a:pPr algn="ctr">
              <a:spcAft>
                <a:spcPts val="200"/>
              </a:spcAft>
            </a:pPr>
            <a:r>
              <a:rPr sz="1200" b="0" i="0">
                <a:solidFill>
                  <a:srgbClr val="1F2937"/>
                </a:solidFill>
                <a:latin typeface="Calibri"/>
              </a:rPr>
              <a:t>Retention analytics</a:t>
            </a:r>
          </a:p>
        </p:txBody>
      </p:sp>
      <p:sp>
        <p:nvSpPr>
          <p:cNvPr id="9" name="TextBox 8"/>
          <p:cNvSpPr txBox="1"/>
          <p:nvPr/>
        </p:nvSpPr>
        <p:spPr>
          <a:xfrm>
            <a:off x="8823960" y="1325880"/>
            <a:ext cx="411480" cy="1417320"/>
          </a:xfrm>
          <a:prstGeom prst="rect">
            <a:avLst/>
          </a:prstGeom>
          <a:noFill/>
        </p:spPr>
        <p:txBody>
          <a:bodyPr wrap="square" anchor="ctr">
            <a:spAutoFit/>
          </a:bodyPr>
          <a:lstStyle/>
          <a:p>
            <a:pPr algn="ctr">
              <a:spcAft>
                <a:spcPts val="600"/>
              </a:spcAft>
            </a:pPr>
            <a:r>
              <a:rPr sz="2800" b="1" i="0">
                <a:solidFill>
                  <a:srgbClr val="BE1E2D"/>
                </a:solidFill>
                <a:latin typeface="Calibri"/>
              </a:rPr>
              <a:t>→</a:t>
            </a:r>
          </a:p>
        </p:txBody>
      </p:sp>
      <p:sp>
        <p:nvSpPr>
          <p:cNvPr id="10" name="Rounded Rectangle 9"/>
          <p:cNvSpPr/>
          <p:nvPr/>
        </p:nvSpPr>
        <p:spPr>
          <a:xfrm>
            <a:off x="9235440" y="1325880"/>
            <a:ext cx="2514600" cy="141732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1800" b="1" i="0">
                <a:solidFill>
                  <a:srgbClr val="0B2E63"/>
                </a:solidFill>
                <a:latin typeface="Calibri"/>
              </a:rPr>
              <a:t>Scale or stop</a:t>
            </a:r>
          </a:p>
          <a:p>
            <a:pPr algn="ctr">
              <a:spcAft>
                <a:spcPts val="200"/>
              </a:spcAft>
            </a:pPr>
            <a:r>
              <a:rPr sz="1600" b="1" i="0">
                <a:solidFill>
                  <a:srgbClr val="BE1E2D"/>
                </a:solidFill>
                <a:latin typeface="Calibri"/>
              </a:rPr>
              <a:t>4 weeks</a:t>
            </a:r>
          </a:p>
          <a:p>
            <a:pPr algn="ctr">
              <a:spcAft>
                <a:spcPts val="200"/>
              </a:spcAft>
            </a:pPr>
            <a:r>
              <a:rPr sz="1200" b="0" i="0">
                <a:solidFill>
                  <a:srgbClr val="1F2937"/>
                </a:solidFill>
                <a:latin typeface="Calibri"/>
              </a:rPr>
              <a:t>Head of Retention, Finance</a:t>
            </a:r>
          </a:p>
        </p:txBody>
      </p:sp>
      <p:sp>
        <p:nvSpPr>
          <p:cNvPr id="11" name="Rounded Rectangle 10"/>
          <p:cNvSpPr/>
          <p:nvPr/>
        </p:nvSpPr>
        <p:spPr>
          <a:xfrm>
            <a:off x="457200" y="3017520"/>
            <a:ext cx="3611880" cy="14630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1,620</a:t>
            </a:r>
          </a:p>
          <a:p>
            <a:pPr algn="ctr">
              <a:spcAft>
                <a:spcPts val="200"/>
              </a:spcAft>
            </a:pPr>
            <a:r>
              <a:rPr sz="1300" b="0" i="0">
                <a:solidFill>
                  <a:srgbClr val="1F2937"/>
                </a:solidFill>
                <a:latin typeface="Calibri"/>
              </a:rPr>
              <a:t>customers: 810 offered, 810 held out at random</a:t>
            </a:r>
          </a:p>
        </p:txBody>
      </p:sp>
      <p:sp>
        <p:nvSpPr>
          <p:cNvPr id="12" name="Rounded Rectangle 11"/>
          <p:cNvSpPr/>
          <p:nvPr/>
        </p:nvSpPr>
        <p:spPr>
          <a:xfrm>
            <a:off x="4297680" y="3017520"/>
            <a:ext cx="3611880" cy="14630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$22,875</a:t>
            </a:r>
          </a:p>
          <a:p>
            <a:pPr algn="ctr">
              <a:spcAft>
                <a:spcPts val="200"/>
              </a:spcAft>
            </a:pPr>
            <a:r>
              <a:rPr sz="1300" b="0" i="0">
                <a:solidFill>
                  <a:srgbClr val="1F2937"/>
                </a:solidFill>
                <a:latin typeface="Calibri"/>
              </a:rPr>
              <a:t>cost of the offered half; expected net value $10,363</a:t>
            </a:r>
          </a:p>
        </p:txBody>
      </p:sp>
      <p:sp>
        <p:nvSpPr>
          <p:cNvPr id="13" name="Rounded Rectangle 12"/>
          <p:cNvSpPr/>
          <p:nvPr/>
        </p:nvSpPr>
        <p:spPr>
          <a:xfrm>
            <a:off x="8138160" y="3017520"/>
            <a:ext cx="3611880" cy="14630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pPr>
            <a:r>
              <a:rPr sz="3200" b="1" i="0">
                <a:solidFill>
                  <a:srgbClr val="BE1E2D"/>
                </a:solidFill>
                <a:latin typeface="Calibri"/>
              </a:rPr>
              <a:t>≥ 15.6%</a:t>
            </a:r>
          </a:p>
          <a:p>
            <a:pPr algn="ctr">
              <a:spcAft>
                <a:spcPts val="200"/>
              </a:spcAft>
            </a:pPr>
            <a:r>
              <a:rPr sz="1300" b="0" i="0">
                <a:solidFill>
                  <a:srgbClr val="1F2937"/>
                </a:solidFill>
                <a:latin typeface="Calibri"/>
              </a:rPr>
              <a:t>measured save rate of the offer mix needed to go (assumed 22.6%); P(go) = 97% if it holds</a:t>
            </a:r>
          </a:p>
        </p:txBody>
      </p:sp>
      <p:sp>
        <p:nvSpPr>
          <p:cNvPr id="14" name="Rounded Rectangle 13"/>
          <p:cNvSpPr/>
          <p:nvPr/>
        </p:nvSpPr>
        <p:spPr>
          <a:xfrm>
            <a:off x="457200" y="4754880"/>
            <a:ext cx="11292840" cy="1051560"/>
          </a:xfrm>
          <a:prstGeom prst="roundRect">
            <a:avLst>
              <a:gd name="adj" fmla="val 8000"/>
            </a:avLst>
          </a:prstGeom>
          <a:solidFill>
            <a:srgbClr val="0B2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400"/>
              </a:spcAft>
            </a:pPr>
            <a:r>
              <a:rPr sz="1900" b="1" i="0">
                <a:solidFill>
                  <a:srgbClr val="FFFFFF"/>
                </a:solidFill>
                <a:latin typeface="Calibri"/>
              </a:rPr>
              <a:t>Adopt expected-value targeting with segment offers, launched as a randomised pilot;</a:t>
            </a:r>
          </a:p>
          <a:p>
            <a:pPr algn="ctr">
              <a:spcAft>
                <a:spcPts val="400"/>
              </a:spcAft>
            </a:pPr>
            <a:r>
              <a:rPr sz="1900" b="1" i="0">
                <a:solidFill>
                  <a:srgbClr val="FFFFFF"/>
                </a:solidFill>
                <a:latin typeface="Calibri"/>
              </a:rPr>
              <a:t>scale only if the measured save rate clears break-even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Live Demo: Retention Lab Dashboard</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14</a:t>
            </a:r>
          </a:p>
        </p:txBody>
      </p:sp>
      <p:pic>
        <p:nvPicPr>
          <p:cNvPr id="4" name="Picture 3" descr="image.png"/>
          <p:cNvPicPr>
            <a:picLocks noChangeAspect="1"/>
          </p:cNvPicPr>
          <p:nvPr/>
        </p:nvPicPr>
        <p:blipFill>
          <a:blip r:embed="rId3"/>
          <a:stretch>
            <a:fillRect/>
          </a:stretch>
        </p:blipFill>
        <p:spPr>
          <a:xfrm>
            <a:off x="457200" y="1188720"/>
            <a:ext cx="6715353" cy="4663440"/>
          </a:xfrm>
          <a:prstGeom prst="rect">
            <a:avLst/>
          </a:prstGeom>
        </p:spPr>
      </p:pic>
      <p:sp>
        <p:nvSpPr>
          <p:cNvPr id="5" name="Rounded Rectangle 4"/>
          <p:cNvSpPr/>
          <p:nvPr/>
        </p:nvSpPr>
        <p:spPr>
          <a:xfrm>
            <a:off x="7498079" y="1280160"/>
            <a:ext cx="425196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800" b="1" i="0">
                <a:solidFill>
                  <a:srgbClr val="0B2E63"/>
                </a:solidFill>
                <a:latin typeface="Calibri"/>
              </a:rPr>
              <a:t>Decision</a:t>
            </a:r>
          </a:p>
          <a:p>
            <a:pPr algn="l">
              <a:spcAft>
                <a:spcPts val="300"/>
              </a:spcAft>
            </a:pPr>
            <a:r>
              <a:rPr sz="1400" b="0" i="0">
                <a:solidFill>
                  <a:srgbClr val="1F2937"/>
                </a:solidFill>
                <a:latin typeface="Calibri"/>
              </a:rPr>
              <a:t>Five KPIs, recommendation, who gets an offer, action list and export</a:t>
            </a:r>
          </a:p>
        </p:txBody>
      </p:sp>
      <p:sp>
        <p:nvSpPr>
          <p:cNvPr id="6" name="Rounded Rectangle 5"/>
          <p:cNvSpPr/>
          <p:nvPr/>
        </p:nvSpPr>
        <p:spPr>
          <a:xfrm>
            <a:off x="7498079" y="2834639"/>
            <a:ext cx="425196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800" b="1" i="0">
                <a:solidFill>
                  <a:srgbClr val="0B2E63"/>
                </a:solidFill>
                <a:latin typeface="Calibri"/>
              </a:rPr>
              <a:t>Assumptions &amp; sensitivity</a:t>
            </a:r>
          </a:p>
          <a:p>
            <a:pPr algn="l">
              <a:spcAft>
                <a:spcPts val="300"/>
              </a:spcAft>
            </a:pPr>
            <a:r>
              <a:rPr sz="1400" b="0" i="0">
                <a:solidFill>
                  <a:srgbClr val="1F2937"/>
                </a:solidFill>
                <a:latin typeface="Calibri"/>
              </a:rPr>
              <a:t>Change save rates and costs; break-even, live chance of a loss, stress test</a:t>
            </a:r>
          </a:p>
        </p:txBody>
      </p:sp>
      <p:sp>
        <p:nvSpPr>
          <p:cNvPr id="7" name="Rounded Rectangle 6"/>
          <p:cNvSpPr/>
          <p:nvPr/>
        </p:nvSpPr>
        <p:spPr>
          <a:xfrm>
            <a:off x="7498079" y="4389120"/>
            <a:ext cx="4251960" cy="137160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Aft>
                <a:spcPts val="300"/>
              </a:spcAft>
            </a:pPr>
            <a:r>
              <a:rPr sz="1800" b="1" i="0">
                <a:solidFill>
                  <a:srgbClr val="0B2E63"/>
                </a:solidFill>
                <a:latin typeface="Calibri"/>
              </a:rPr>
              <a:t>Model evidence</a:t>
            </a:r>
          </a:p>
          <a:p>
            <a:pPr algn="l">
              <a:spcAft>
                <a:spcPts val="300"/>
              </a:spcAft>
            </a:pPr>
            <a:r>
              <a:rPr sz="1400" b="0" i="0">
                <a:solidFill>
                  <a:srgbClr val="1F2937"/>
                </a:solidFill>
                <a:latin typeface="Calibri"/>
              </a:rPr>
              <a:t>Performance, points scorecard, SHAP challenger, score an uploaded customer file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109728"/>
            <a:ext cx="11512296" cy="438912"/>
          </a:xfrm>
          <a:prstGeom prst="rect">
            <a:avLst/>
          </a:prstGeom>
          <a:noFill/>
        </p:spPr>
        <p:txBody>
          <a:bodyPr wrap="square" anchor="t">
            <a:spAutoFit/>
          </a:bodyPr>
          <a:lstStyle/>
          <a:p>
            <a:pPr algn="l">
              <a:spcAft>
                <a:spcPts val="600"/>
              </a:spcAft>
            </a:pPr>
            <a:r>
              <a:rPr sz="2800" b="1" i="0">
                <a:solidFill>
                  <a:srgbClr val="FFFFFF"/>
                </a:solidFill>
                <a:latin typeface="Calibri"/>
              </a:rPr>
              <a:t>Team Contributions</a:t>
            </a:r>
          </a:p>
        </p:txBody>
      </p:sp>
      <p:sp>
        <p:nvSpPr>
          <p:cNvPr id="3" name="TextBox 2"/>
          <p:cNvSpPr txBox="1"/>
          <p:nvPr/>
        </p:nvSpPr>
        <p:spPr>
          <a:xfrm>
            <a:off x="11045952" y="6473952"/>
            <a:ext cx="822960" cy="301752"/>
          </a:xfrm>
          <a:prstGeom prst="rect">
            <a:avLst/>
          </a:prstGeom>
          <a:noFill/>
        </p:spPr>
        <p:txBody>
          <a:bodyPr wrap="square" anchor="t">
            <a:spAutoFit/>
          </a:bodyPr>
          <a:lstStyle/>
          <a:p>
            <a:pPr algn="r">
              <a:spcAft>
                <a:spcPts val="600"/>
              </a:spcAft>
            </a:pPr>
            <a:r>
              <a:rPr sz="1100" b="0" i="0">
                <a:solidFill>
                  <a:srgbClr val="6B7280"/>
                </a:solidFill>
                <a:latin typeface="Calibri"/>
              </a:rPr>
              <a:t>15</a:t>
            </a:r>
          </a:p>
        </p:txBody>
      </p:sp>
      <p:graphicFrame>
        <p:nvGraphicFramePr>
          <p:cNvPr id="4" name="Table 3"/>
          <p:cNvGraphicFramePr>
            <a:graphicFrameLocks noGrp="1"/>
          </p:cNvGraphicFramePr>
          <p:nvPr/>
        </p:nvGraphicFramePr>
        <p:xfrm>
          <a:off x="457200" y="1325880"/>
          <a:ext cx="11292840" cy="4343400"/>
        </p:xfrm>
        <a:graphic>
          <a:graphicData uri="http://schemas.openxmlformats.org/drawingml/2006/table">
            <a:tbl>
              <a:tblPr firstRow="1" bandRow="1">
                <a:tableStyleId>{5C22544A-7EE6-4342-B048-85BDC9FD1C3A}</a:tableStyleId>
              </a:tblPr>
              <a:tblGrid>
                <a:gridCol w="2651760"/>
                <a:gridCol w="1600200"/>
                <a:gridCol w="7040880"/>
              </a:tblGrid>
              <a:tr h="868680">
                <a:tc>
                  <a:txBody>
                    <a:bodyPr wrap="square"/>
                    <a:lstStyle/>
                    <a:p>
                      <a:pPr algn="l"/>
                      <a:r>
                        <a:rPr sz="1600" b="1" i="0">
                          <a:solidFill>
                            <a:srgbClr val="FFFFFF"/>
                          </a:solidFill>
                          <a:latin typeface="Calibri"/>
                        </a:rPr>
                        <a:t>Member</a:t>
                      </a:r>
                    </a:p>
                  </a:txBody>
                  <a:tcPr marL="91440" marR="91440" marT="27432" marB="27432" anchor="ctr">
                    <a:solidFill>
                      <a:srgbClr val="0B2E63"/>
                    </a:solidFill>
                  </a:tcPr>
                </a:tc>
                <a:tc>
                  <a:txBody>
                    <a:bodyPr wrap="square"/>
                    <a:lstStyle/>
                    <a:p>
                      <a:pPr algn="l"/>
                      <a:r>
                        <a:rPr sz="1600" b="1" i="0">
                          <a:solidFill>
                            <a:srgbClr val="FFFFFF"/>
                          </a:solidFill>
                          <a:latin typeface="Calibri"/>
                        </a:rPr>
                        <a:t>Student ID</a:t>
                      </a:r>
                    </a:p>
                  </a:txBody>
                  <a:tcPr marL="91440" marR="91440" marT="27432" marB="27432" anchor="ctr">
                    <a:solidFill>
                      <a:srgbClr val="0B2E63"/>
                    </a:solidFill>
                  </a:tcPr>
                </a:tc>
                <a:tc>
                  <a:txBody>
                    <a:bodyPr wrap="square"/>
                    <a:lstStyle/>
                    <a:p>
                      <a:pPr algn="l"/>
                      <a:r>
                        <a:rPr sz="1600" b="1" i="0">
                          <a:solidFill>
                            <a:srgbClr val="FFFFFF"/>
                          </a:solidFill>
                          <a:latin typeface="Calibri"/>
                        </a:rPr>
                        <a:t>Main contributions</a:t>
                      </a:r>
                    </a:p>
                  </a:txBody>
                  <a:tcPr marL="91440" marR="91440" marT="27432" marB="27432" anchor="ctr">
                    <a:solidFill>
                      <a:srgbClr val="0B2E63"/>
                    </a:solidFill>
                  </a:tcPr>
                </a:tc>
              </a:tr>
              <a:tr h="868680">
                <a:tc>
                  <a:txBody>
                    <a:bodyPr wrap="square"/>
                    <a:lstStyle/>
                    <a:p>
                      <a:pPr algn="l"/>
                      <a:r>
                        <a:rPr sz="1500" b="0" i="0">
                          <a:solidFill>
                            <a:srgbClr val="1F2937"/>
                          </a:solidFill>
                          <a:latin typeface="Calibri"/>
                        </a:rPr>
                        <a:t>Pham Tuan Kiet</a:t>
                      </a:r>
                    </a:p>
                  </a:txBody>
                  <a:tcPr marL="91440" marR="91440" marT="27432" marB="27432" anchor="ctr">
                    <a:solidFill>
                      <a:srgbClr val="EEF2F8"/>
                    </a:solidFill>
                  </a:tcPr>
                </a:tc>
                <a:tc>
                  <a:txBody>
                    <a:bodyPr wrap="square"/>
                    <a:lstStyle/>
                    <a:p>
                      <a:pPr algn="l"/>
                      <a:r>
                        <a:rPr sz="1500" b="0" i="0">
                          <a:solidFill>
                            <a:srgbClr val="1F2937"/>
                          </a:solidFill>
                          <a:latin typeface="Calibri"/>
                        </a:rPr>
                        <a:t>20252751M</a:t>
                      </a:r>
                    </a:p>
                  </a:txBody>
                  <a:tcPr marL="91440" marR="91440" marT="27432" marB="27432" anchor="ctr">
                    <a:solidFill>
                      <a:srgbClr val="EEF2F8"/>
                    </a:solidFill>
                  </a:tcPr>
                </a:tc>
                <a:tc>
                  <a:txBody>
                    <a:bodyPr wrap="square"/>
                    <a:lstStyle/>
                    <a:p>
                      <a:pPr algn="l"/>
                      <a:r>
                        <a:rPr sz="1500" b="0" i="0">
                          <a:solidFill>
                            <a:srgbClr val="1F2937"/>
                          </a:solidFill>
                          <a:latin typeface="Calibri"/>
                        </a:rPr>
                        <a:t>Project management; code review and improvements (pilot and stress-test fixes, report generation, single-file HTML dashboard); reproducibility check; final report</a:t>
                      </a:r>
                    </a:p>
                  </a:txBody>
                  <a:tcPr marL="91440" marR="91440" marT="27432" marB="27432" anchor="ctr">
                    <a:solidFill>
                      <a:srgbClr val="EEF2F8"/>
                    </a:solidFill>
                  </a:tcPr>
                </a:tc>
              </a:tr>
              <a:tr h="868680">
                <a:tc>
                  <a:txBody>
                    <a:bodyPr wrap="square"/>
                    <a:lstStyle/>
                    <a:p>
                      <a:pPr algn="l"/>
                      <a:r>
                        <a:rPr sz="1500" b="0" i="0">
                          <a:solidFill>
                            <a:srgbClr val="1F2937"/>
                          </a:solidFill>
                          <a:latin typeface="Calibri"/>
                        </a:rPr>
                        <a:t>Nguyen Trung Hieu</a:t>
                      </a:r>
                    </a:p>
                  </a:txBody>
                  <a:tcPr marL="91440" marR="91440" marT="27432" marB="27432" anchor="ctr">
                    <a:solidFill>
                      <a:srgbClr val="FFFFFF"/>
                    </a:solidFill>
                  </a:tcPr>
                </a:tc>
                <a:tc>
                  <a:txBody>
                    <a:bodyPr wrap="square"/>
                    <a:lstStyle/>
                    <a:p>
                      <a:pPr algn="l"/>
                      <a:r>
                        <a:rPr sz="1500" b="0" i="0">
                          <a:solidFill>
                            <a:srgbClr val="1F2937"/>
                          </a:solidFill>
                          <a:latin typeface="Calibri"/>
                        </a:rPr>
                        <a:t>20261059M</a:t>
                      </a:r>
                    </a:p>
                  </a:txBody>
                  <a:tcPr marL="91440" marR="91440" marT="27432" marB="27432" anchor="ctr">
                    <a:solidFill>
                      <a:srgbClr val="FFFFFF"/>
                    </a:solidFill>
                  </a:tcPr>
                </a:tc>
                <a:tc>
                  <a:txBody>
                    <a:bodyPr wrap="square"/>
                    <a:lstStyle/>
                    <a:p>
                      <a:pPr algn="l"/>
                      <a:r>
                        <a:rPr sz="1500" b="0" i="0">
                          <a:solidFill>
                            <a:srgbClr val="1F2937"/>
                          </a:solidFill>
                          <a:latin typeface="Calibri"/>
                        </a:rPr>
                        <a:t>Decision engine, robustness and Monte Carlo analysis, dashboard redesign, business documents</a:t>
                      </a:r>
                    </a:p>
                  </a:txBody>
                  <a:tcPr marL="91440" marR="91440" marT="27432" marB="27432" anchor="ctr">
                    <a:solidFill>
                      <a:srgbClr val="FFFFFF"/>
                    </a:solidFill>
                  </a:tcPr>
                </a:tc>
              </a:tr>
              <a:tr h="868680">
                <a:tc>
                  <a:txBody>
                    <a:bodyPr wrap="square"/>
                    <a:lstStyle/>
                    <a:p>
                      <a:pPr algn="l"/>
                      <a:r>
                        <a:rPr sz="1500" b="0" i="0">
                          <a:solidFill>
                            <a:srgbClr val="1F2937"/>
                          </a:solidFill>
                          <a:latin typeface="Calibri"/>
                        </a:rPr>
                        <a:t>Bui Tien Dung</a:t>
                      </a:r>
                    </a:p>
                  </a:txBody>
                  <a:tcPr marL="91440" marR="91440" marT="27432" marB="27432" anchor="ctr">
                    <a:solidFill>
                      <a:srgbClr val="EEF2F8"/>
                    </a:solidFill>
                  </a:tcPr>
                </a:tc>
                <a:tc>
                  <a:txBody>
                    <a:bodyPr wrap="square"/>
                    <a:lstStyle/>
                    <a:p>
                      <a:pPr algn="l"/>
                      <a:r>
                        <a:rPr sz="1500" b="0" i="0">
                          <a:solidFill>
                            <a:srgbClr val="1F2937"/>
                          </a:solidFill>
                          <a:latin typeface="Calibri"/>
                        </a:rPr>
                        <a:t>20261204M</a:t>
                      </a:r>
                    </a:p>
                  </a:txBody>
                  <a:tcPr marL="91440" marR="91440" marT="27432" marB="27432" anchor="ctr">
                    <a:solidFill>
                      <a:srgbClr val="EEF2F8"/>
                    </a:solidFill>
                  </a:tcPr>
                </a:tc>
                <a:tc>
                  <a:txBody>
                    <a:bodyPr wrap="square"/>
                    <a:lstStyle/>
                    <a:p>
                      <a:pPr algn="l"/>
                      <a:r>
                        <a:rPr sz="1500" b="0" i="0">
                          <a:solidFill>
                            <a:srgbClr val="1F2937"/>
                          </a:solidFill>
                          <a:latin typeface="Calibri"/>
                        </a:rPr>
                        <a:t>Presentation slides and speaker script; review and quality assurance of code and report</a:t>
                      </a:r>
                    </a:p>
                  </a:txBody>
                  <a:tcPr marL="91440" marR="91440" marT="27432" marB="27432" anchor="ctr">
                    <a:solidFill>
                      <a:srgbClr val="EEF2F8"/>
                    </a:solidFill>
                  </a:tcPr>
                </a:tc>
              </a:tr>
              <a:tr h="868680">
                <a:tc>
                  <a:txBody>
                    <a:bodyPr wrap="square"/>
                    <a:lstStyle/>
                    <a:p>
                      <a:pPr algn="l"/>
                      <a:r>
                        <a:rPr sz="1500" b="0" i="0">
                          <a:solidFill>
                            <a:srgbClr val="1F2937"/>
                          </a:solidFill>
                          <a:latin typeface="Calibri"/>
                        </a:rPr>
                        <a:t>Pham Hung Phong</a:t>
                      </a:r>
                    </a:p>
                  </a:txBody>
                  <a:tcPr marL="91440" marR="91440" marT="27432" marB="27432" anchor="ctr">
                    <a:solidFill>
                      <a:srgbClr val="FFFFFF"/>
                    </a:solidFill>
                  </a:tcPr>
                </a:tc>
                <a:tc>
                  <a:txBody>
                    <a:bodyPr wrap="square"/>
                    <a:lstStyle/>
                    <a:p>
                      <a:pPr algn="l"/>
                      <a:r>
                        <a:rPr sz="1500" b="0" i="0">
                          <a:solidFill>
                            <a:srgbClr val="1F2937"/>
                          </a:solidFill>
                          <a:latin typeface="Calibri"/>
                        </a:rPr>
                        <a:t>20261061M</a:t>
                      </a:r>
                    </a:p>
                  </a:txBody>
                  <a:tcPr marL="91440" marR="91440" marT="27432" marB="27432" anchor="ctr">
                    <a:solidFill>
                      <a:srgbClr val="FFFFFF"/>
                    </a:solidFill>
                  </a:tcPr>
                </a:tc>
                <a:tc>
                  <a:txBody>
                    <a:bodyPr wrap="square"/>
                    <a:lstStyle/>
                    <a:p>
                      <a:pPr algn="l"/>
                      <a:r>
                        <a:rPr sz="1500" b="0" i="0">
                          <a:solidFill>
                            <a:srgbClr val="1F2937"/>
                          </a:solidFill>
                          <a:latin typeface="Calibri"/>
                        </a:rPr>
                        <a:t>Data pipeline, churn models and first version of the dashboard</a:t>
                      </a:r>
                    </a:p>
                  </a:txBody>
                  <a:tcPr marL="91440" marR="91440" marT="27432" marB="27432" anchor="ctr">
                    <a:solidFill>
                      <a:srgbClr val="FFFFFF"/>
                    </a:solidFill>
                  </a:tcPr>
                </a:tc>
              </a:tr>
            </a:tbl>
          </a:graphicData>
        </a:graphic>
      </p:graphicFrame>
      <p:sp>
        <p:nvSpPr>
          <p:cNvPr id="5" name="TextBox 4"/>
          <p:cNvSpPr txBox="1"/>
          <p:nvPr/>
        </p:nvSpPr>
        <p:spPr>
          <a:xfrm>
            <a:off x="457200" y="5852160"/>
            <a:ext cx="11292840" cy="320040"/>
          </a:xfrm>
          <a:prstGeom prst="rect">
            <a:avLst/>
          </a:prstGeom>
          <a:noFill/>
        </p:spPr>
        <p:txBody>
          <a:bodyPr wrap="square" anchor="t">
            <a:spAutoFit/>
          </a:bodyPr>
          <a:lstStyle/>
          <a:p>
            <a:pPr algn="l">
              <a:spcAft>
                <a:spcPts val="600"/>
              </a:spcAft>
            </a:pPr>
            <a:r>
              <a:rPr sz="1200" b="0" i="0">
                <a:solidFill>
                  <a:srgbClr val="6B7280"/>
                </a:solidFill>
                <a:latin typeface="Calibri"/>
              </a:rPr>
              <a:t>Phong runs the live demo; Kiet, Hieu and Dung give the talk. The same table is in the final report.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720" y="2743200"/>
            <a:ext cx="6035040" cy="1005840"/>
          </a:xfrm>
          <a:prstGeom prst="rect">
            <a:avLst/>
          </a:prstGeom>
          <a:noFill/>
        </p:spPr>
        <p:txBody>
          <a:bodyPr wrap="square" anchor="t">
            <a:spAutoFit/>
          </a:bodyPr>
          <a:lstStyle/>
          <a:p>
            <a:pPr algn="l">
              <a:spcAft>
                <a:spcPts val="600"/>
              </a:spcAft>
            </a:pPr>
            <a:r>
              <a:rPr sz="6000" b="1" i="0">
                <a:solidFill>
                  <a:srgbClr val="C00000"/>
                </a:solidFill>
                <a:latin typeface="Calibri"/>
              </a:rPr>
              <a:t>THANK YOU !</a:t>
            </a:r>
          </a:p>
        </p:txBody>
      </p:sp>
      <p:sp>
        <p:nvSpPr>
          <p:cNvPr id="3" name="TextBox 2"/>
          <p:cNvSpPr txBox="1"/>
          <p:nvPr/>
        </p:nvSpPr>
        <p:spPr>
          <a:xfrm>
            <a:off x="5806440" y="3794760"/>
            <a:ext cx="5943600" cy="548640"/>
          </a:xfrm>
          <a:prstGeom prst="rect">
            <a:avLst/>
          </a:prstGeom>
          <a:noFill/>
        </p:spPr>
        <p:txBody>
          <a:bodyPr wrap="square" anchor="t">
            <a:spAutoFit/>
          </a:bodyPr>
          <a:lstStyle/>
          <a:p>
            <a:pPr algn="l">
              <a:spcAft>
                <a:spcPts val="600"/>
              </a:spcAft>
            </a:pPr>
            <a:r>
              <a:rPr sz="2400" b="0" i="0">
                <a:solidFill>
                  <a:srgbClr val="0B2E63"/>
                </a:solidFill>
                <a:latin typeface="Calibri"/>
              </a:rPr>
              <a:t>Questions and discussion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6320</Words>
  <Application>Microsoft Office PowerPoint</Application>
  <PresentationFormat>Widescreen</PresentationFormat>
  <Paragraphs>647</Paragraphs>
  <Slides>26</Slides>
  <Notes>26</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26</vt:i4>
      </vt:variant>
    </vt:vector>
  </HeadingPairs>
  <TitlesOfParts>
    <vt:vector size="34" baseType="lpstr">
      <vt:lpstr>Arial</vt:lpstr>
      <vt:lpstr>Lato</vt:lpstr>
      <vt:lpstr>Calibri</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Profit-Aware Telecom Churn &amp; Retention Targeting</dc:title>
  <cp:lastModifiedBy>Pham Tuan Kiet 20214909</cp:lastModifiedBy>
  <cp:revision>3</cp:revision>
  <dcterms:modified xsi:type="dcterms:W3CDTF">2026-10-02T13:00:47Z</dcterms:modified>
  <dc:creator>Group 1</dc:creator>
  <dc:subject>Business Analytics capstone, Topic 7</dc:subject>
</cp:coreProperties>
</file>