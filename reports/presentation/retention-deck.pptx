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decision, not the algorithm. We were asked how to spend a limited retention budget when both churn risk and customer value matter. In twelve minutes: the problem, the data, the model, the decision rule, the money, how robust it is, risks, and what we ask management to approve.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status quo is "highest churn risk first". Three things are missing: customer value, the cost of the offer, and whether the offer actually changes behaviour. Our KPIs are expected net value, ROI, customers contacted, precision among contacted, and coverage of high-risk, high-value customers.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readiness verdict: fit to design and demonstrate the method, not to size a real campaign. Cleaning was minor: eleven blank total charges for brand-new customers. Split 60/20/20; every choice made on validation, test touched once.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three model families rank about equally well, so the simpler and well-calibrated model wins. Calibration matters because we multiply probabilities by money. SHAP on the gradient-boosting challenger agrees on the drivers: tenure, contract, fibre, missing tech support.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Value equals monthly charges times a 30% margin times about a year of discounted months, scaled by tenure. The dashed lines are the 75th percentiles, fixed on validation. The coloured points are who the recommended rule contacts.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Worked example: a customer paying 70 dollars a month is worth about $239; at 60% risk the standard offer is worth $3.73. Save rates are deliberately below the 30% literature convention because risky customers are not always responsive.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customers, same budget, same assumptions. Precision is the share of contacted customers who actually churned; HR/HV coverage is the share of high-risk, high-value customers reached. Risk-only has higher precision but lower value. Segment offers add $290 only under assumed save rates; with actual outcomes that extra gain is not distinguishable from zero, so the pilot must test offers.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x-axis is the budget as the share of customers the standard offer could reach; the recommended budget equals the standard offer for 24% of customers, about $42,238 for the whole base. Each extra step reaches customers with lower expected value. Beyond 27% of customers contacted nobody has positive expected value, so spending more destroys value.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save rate and the value horizon dominate. A re-optimised plan never loses money because it drops customers whose value turns negative; a list frozen under pessimistic assumptions would lose $2,797. This is why we recommend measuring the save rate before scaling.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offer is both a benefit (discount) and a burden (a call). We flag the senior gap for review rather than hide it. Contact cap, one retention contact per 30 days, and the Vietnamese legal call window protect experience.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are explicit about what the analysis cannot claim. The course forbids causal uplift claims from this data, and the literature shows high-risk customers can be the least responsive. That is the reason for the pilot.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wave is the recommended list scaled to the 7,043-customer base (22% of customers). Randomising inside the target list gives the causal effect we could not estimate from the data. Each offer is its own arm. Measured save rates replace assumptions in the configuration and the whole analysis re-runs.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the ask. If the true save rate is 20%, the rule says go after one wave 94% of the time; the significance test protects against acting on noise, the break-even test protects the budget. Then switch to the dashboard demo: change the save rate and budget, show the KPIs and the action list update, export the campaign file with its scenario ID.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55680" cy="822960"/>
          </a:xfrm>
          <a:prstGeom prst="rect">
            <a:avLst/>
          </a:prstGeom>
          <a:noFill/>
        </p:spPr>
        <p:txBody>
          <a:bodyPr wrap="square">
            <a:spAutoFit/>
          </a:bodyPr>
          <a:lstStyle/>
          <a:p>
            <a:r>
              <a:rPr sz="3600" b="1">
                <a:solidFill>
                  <a:srgbClr val="0B0B0B"/>
                </a:solidFill>
                <a:latin typeface="Segoe UI"/>
              </a:rPr>
              <a:t>Who should get a retention offer?</a:t>
            </a:r>
          </a:p>
        </p:txBody>
      </p:sp>
      <p:sp>
        <p:nvSpPr>
          <p:cNvPr id="4" name="TextBox 3"/>
          <p:cNvSpPr txBox="1"/>
          <p:nvPr/>
        </p:nvSpPr>
        <p:spPr>
          <a:xfrm>
            <a:off x="502920" y="1051560"/>
            <a:ext cx="11155680" cy="548640"/>
          </a:xfrm>
          <a:prstGeom prst="rect">
            <a:avLst/>
          </a:prstGeom>
          <a:noFill/>
        </p:spPr>
        <p:txBody>
          <a:bodyPr wrap="square">
            <a:spAutoFit/>
          </a:bodyPr>
          <a:lstStyle/>
          <a:p>
            <a:r>
              <a:rPr sz="1600" b="0">
                <a:solidFill>
                  <a:srgbClr val="52514E"/>
                </a:solidFill>
                <a:latin typeface="Segoe UI"/>
              </a:rPr>
              <a:t>Profit-aware churn and retention targeting - Business Analytics capstone, Topic 7</a:t>
            </a:r>
          </a:p>
        </p:txBody>
      </p:sp>
      <p:sp>
        <p:nvSpPr>
          <p:cNvPr id="5" name="TextBox 4"/>
          <p:cNvSpPr txBox="1"/>
          <p:nvPr/>
        </p:nvSpPr>
        <p:spPr>
          <a:xfrm>
            <a:off x="502920" y="1645920"/>
            <a:ext cx="11155680" cy="4754880"/>
          </a:xfrm>
          <a:prstGeom prst="rect">
            <a:avLst/>
          </a:prstGeom>
          <a:noFill/>
        </p:spPr>
        <p:txBody>
          <a:bodyPr wrap="square">
            <a:spAutoFit/>
          </a:bodyPr>
          <a:lstStyle/>
          <a:p>
            <a:pPr>
              <a:spcAft>
                <a:spcPts val="800"/>
              </a:spcAft>
            </a:pPr>
            <a:r>
              <a:rPr sz="1800" b="0">
                <a:solidFill>
                  <a:srgbClr val="0B0B0B"/>
                </a:solidFill>
                <a:latin typeface="Segoe UI"/>
              </a:rPr>
              <a:t>• Decision: which customers receive an offer, with which offer, and how much budget to commit</a:t>
            </a:r>
          </a:p>
          <a:p>
            <a:pPr>
              <a:spcAft>
                <a:spcPts val="800"/>
              </a:spcAft>
            </a:pPr>
            <a:r>
              <a:rPr sz="1800" b="0">
                <a:solidFill>
                  <a:srgbClr val="0B0B0B"/>
                </a:solidFill>
                <a:latin typeface="Segoe UI"/>
              </a:rPr>
              <a:t>• Data: IBM Telco Customer Churn sample (7,043 customers)</a:t>
            </a:r>
          </a:p>
          <a:p>
            <a:pPr>
              <a:spcAft>
                <a:spcPts val="800"/>
              </a:spcAft>
            </a:pPr>
            <a:r>
              <a:rPr sz="1800" b="0">
                <a:solidFill>
                  <a:srgbClr val="0B0B0B"/>
                </a:solidFill>
                <a:latin typeface="Segoe UI"/>
              </a:rPr>
              <a:t>• Recommendation: expected-value targeting, tested in a randomised pilot</a:t>
            </a:r>
          </a:p>
        </p:txBody>
      </p:sp>
      <p:sp>
        <p:nvSpPr>
          <p:cNvPr id="6" name="TextBox 5"/>
          <p:cNvSpPr txBox="1"/>
          <p:nvPr/>
        </p:nvSpPr>
        <p:spPr>
          <a:xfrm>
            <a:off x="502920" y="6446520"/>
            <a:ext cx="11155680" cy="320040"/>
          </a:xfrm>
          <a:prstGeom prst="rect">
            <a:avLst/>
          </a:prstGeom>
          <a:noFill/>
        </p:spPr>
        <p:txBody>
          <a:bodyPr wrap="none">
            <a:spAutoFit/>
          </a:bodyPr>
          <a:lstStyle/>
          <a:p>
            <a:r>
              <a:rPr sz="1000" b="0">
                <a:solidFill>
                  <a:srgbClr val="898781"/>
                </a:solidFill>
                <a:latin typeface="Segoe UI"/>
              </a:rPr>
              <a:t>Retention Lab | Profit-aware churn &amp; retention targeting | 1/13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55680" cy="822960"/>
          </a:xfrm>
          <a:prstGeom prst="rect">
            <a:avLst/>
          </a:prstGeom>
          <a:noFill/>
        </p:spPr>
        <p:txBody>
          <a:bodyPr wrap="square">
            <a:spAutoFit/>
          </a:bodyPr>
          <a:lstStyle/>
          <a:p>
            <a:r>
              <a:rPr sz="2800" b="1">
                <a:solidFill>
                  <a:srgbClr val="0B0B0B"/>
                </a:solidFill>
                <a:latin typeface="Segoe UI"/>
              </a:rPr>
              <a:t>Today's rule wastes part of the budget</a:t>
            </a:r>
          </a:p>
        </p:txBody>
      </p:sp>
      <p:sp>
        <p:nvSpPr>
          <p:cNvPr id="4" name="TextBox 3"/>
          <p:cNvSpPr txBox="1"/>
          <p:nvPr/>
        </p:nvSpPr>
        <p:spPr>
          <a:xfrm>
            <a:off x="502920" y="1051560"/>
            <a:ext cx="11155680" cy="548640"/>
          </a:xfrm>
          <a:prstGeom prst="rect">
            <a:avLst/>
          </a:prstGeom>
          <a:noFill/>
        </p:spPr>
        <p:txBody>
          <a:bodyPr wrap="square">
            <a:spAutoFit/>
          </a:bodyPr>
          <a:lstStyle/>
          <a:p>
            <a:r>
              <a:rPr sz="1600" b="0">
                <a:solidFill>
                  <a:srgbClr val="52514E"/>
                </a:solidFill>
                <a:latin typeface="Segoe UI"/>
              </a:rPr>
              <a:t>Calling the riskiest customers ignores what they are worth and what the offer costs</a:t>
            </a:r>
          </a:p>
        </p:txBody>
      </p:sp>
      <p:sp>
        <p:nvSpPr>
          <p:cNvPr id="5" name="TextBox 4"/>
          <p:cNvSpPr txBox="1"/>
          <p:nvPr/>
        </p:nvSpPr>
        <p:spPr>
          <a:xfrm>
            <a:off x="502920" y="1645920"/>
            <a:ext cx="11155680" cy="4754880"/>
          </a:xfrm>
          <a:prstGeom prst="rect">
            <a:avLst/>
          </a:prstGeom>
          <a:noFill/>
        </p:spPr>
        <p:txBody>
          <a:bodyPr wrap="square">
            <a:spAutoFit/>
          </a:bodyPr>
          <a:lstStyle/>
          <a:p>
            <a:pPr>
              <a:spcAft>
                <a:spcPts val="800"/>
              </a:spcAft>
            </a:pPr>
            <a:r>
              <a:rPr sz="1800" b="0">
                <a:solidFill>
                  <a:srgbClr val="0B0B0B"/>
                </a:solidFill>
                <a:latin typeface="Segoe UI"/>
              </a:rPr>
              <a:t>• Budget covers an offer for only 10% of customers ($3,500 per 1,409)</a:t>
            </a:r>
          </a:p>
          <a:p>
            <a:pPr>
              <a:spcAft>
                <a:spcPts val="800"/>
              </a:spcAft>
            </a:pPr>
            <a:r>
              <a:rPr sz="1800" b="0">
                <a:solidFill>
                  <a:srgbClr val="0B0B0B"/>
                </a:solidFill>
                <a:latin typeface="Segoe UI"/>
              </a:rPr>
              <a:t>• Every offer costs money even if the customer would have stayed</a:t>
            </a:r>
          </a:p>
          <a:p>
            <a:pPr>
              <a:spcAft>
                <a:spcPts val="800"/>
              </a:spcAft>
            </a:pPr>
            <a:r>
              <a:rPr sz="1800" b="0">
                <a:solidFill>
                  <a:srgbClr val="0B0B0B"/>
                </a:solidFill>
                <a:latin typeface="Segoe UI"/>
              </a:rPr>
              <a:t>• A very risky customer with a small bill may not repay the offer</a:t>
            </a:r>
          </a:p>
          <a:p>
            <a:pPr>
              <a:spcAft>
                <a:spcPts val="800"/>
              </a:spcAft>
            </a:pPr>
            <a:r>
              <a:rPr sz="1800" b="0">
                <a:solidFill>
                  <a:srgbClr val="0B0B0B"/>
                </a:solidFill>
                <a:latin typeface="Segoe UI"/>
              </a:rPr>
              <a:t>• Decision owner: Head of Retention; Finance approves budget; Legal/DPO approves contact</a:t>
            </a:r>
          </a:p>
        </p:txBody>
      </p:sp>
      <p:sp>
        <p:nvSpPr>
          <p:cNvPr id="6" name="TextBox 5"/>
          <p:cNvSpPr txBox="1"/>
          <p:nvPr/>
        </p:nvSpPr>
        <p:spPr>
          <a:xfrm>
            <a:off x="502920" y="6446520"/>
            <a:ext cx="11155680" cy="320040"/>
          </a:xfrm>
          <a:prstGeom prst="rect">
            <a:avLst/>
          </a:prstGeom>
          <a:noFill/>
        </p:spPr>
        <p:txBody>
          <a:bodyPr wrap="none">
            <a:spAutoFit/>
          </a:bodyPr>
          <a:lstStyle/>
          <a:p>
            <a:r>
              <a:rPr sz="1000" b="0">
                <a:solidFill>
                  <a:srgbClr val="898781"/>
                </a:solidFill>
                <a:latin typeface="Segoe UI"/>
              </a:rPr>
              <a:t>Retention Lab | Profit-aware churn &amp; retention targeting | 2/13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55680" cy="822960"/>
          </a:xfrm>
          <a:prstGeom prst="rect">
            <a:avLst/>
          </a:prstGeom>
          <a:noFill/>
        </p:spPr>
        <p:txBody>
          <a:bodyPr wrap="square">
            <a:spAutoFit/>
          </a:bodyPr>
          <a:lstStyle/>
          <a:p>
            <a:r>
              <a:rPr sz="2800" b="1">
                <a:solidFill>
                  <a:srgbClr val="0B0B0B"/>
                </a:solidFill>
                <a:latin typeface="Segoe UI"/>
              </a:rPr>
              <a:t>The data: clean, but a teaching sample</a:t>
            </a:r>
          </a:p>
        </p:txBody>
      </p:sp>
      <p:sp>
        <p:nvSpPr>
          <p:cNvPr id="4" name="TextBox 3"/>
          <p:cNvSpPr txBox="1"/>
          <p:nvPr/>
        </p:nvSpPr>
        <p:spPr>
          <a:xfrm>
            <a:off x="502920" y="1143000"/>
            <a:ext cx="4572000" cy="4754880"/>
          </a:xfrm>
          <a:prstGeom prst="rect">
            <a:avLst/>
          </a:prstGeom>
          <a:noFill/>
        </p:spPr>
        <p:txBody>
          <a:bodyPr wrap="square">
            <a:spAutoFit/>
          </a:bodyPr>
          <a:lstStyle/>
          <a:p>
            <a:pPr>
              <a:spcAft>
                <a:spcPts val="800"/>
              </a:spcAft>
            </a:pPr>
            <a:r>
              <a:rPr sz="1500" b="0">
                <a:solidFill>
                  <a:srgbClr val="0B0B0B"/>
                </a:solidFill>
                <a:latin typeface="Segoe UI"/>
              </a:rPr>
              <a:t>• 26.5% churn; month-to-month, new, fibre and e-cheque customers churn most</a:t>
            </a:r>
          </a:p>
          <a:p>
            <a:pPr>
              <a:spcAft>
                <a:spcPts val="800"/>
              </a:spcAft>
            </a:pPr>
            <a:r>
              <a:rPr sz="1500" b="0">
                <a:solidFill>
                  <a:srgbClr val="0B0B0B"/>
                </a:solidFill>
                <a:latin typeface="Segoe UI"/>
              </a:rPr>
              <a:t>• No offer or campaign data: save rates must be assumed</a:t>
            </a:r>
          </a:p>
          <a:p>
            <a:pPr>
              <a:spcAft>
                <a:spcPts val="800"/>
              </a:spcAft>
            </a:pPr>
            <a:r>
              <a:rPr sz="1500" b="0">
                <a:solidFill>
                  <a:srgbClr val="0B0B0B"/>
                </a:solidFill>
                <a:latin typeface="Segoe UI"/>
              </a:rPr>
              <a:t>• Fictional US company; real US postpaid churn is about 1% a month</a:t>
            </a:r>
          </a:p>
        </p:txBody>
      </p:sp>
      <p:pic>
        <p:nvPicPr>
          <p:cNvPr id="5" name="Picture 4" descr="eda_drivers.png"/>
          <p:cNvPicPr>
            <a:picLocks noChangeAspect="1"/>
          </p:cNvPicPr>
          <p:nvPr/>
        </p:nvPicPr>
        <p:blipFill>
          <a:blip r:embed="rId2"/>
          <a:stretch>
            <a:fillRect/>
          </a:stretch>
        </p:blipFill>
        <p:spPr>
          <a:xfrm>
            <a:off x="5303520" y="1143000"/>
            <a:ext cx="6583680" cy="3890356"/>
          </a:xfrm>
          <a:prstGeom prst="rect">
            <a:avLst/>
          </a:prstGeom>
        </p:spPr>
      </p:pic>
      <p:sp>
        <p:nvSpPr>
          <p:cNvPr id="6" name="TextBox 5"/>
          <p:cNvSpPr txBox="1"/>
          <p:nvPr/>
        </p:nvSpPr>
        <p:spPr>
          <a:xfrm>
            <a:off x="502920" y="6446520"/>
            <a:ext cx="11155680" cy="320040"/>
          </a:xfrm>
          <a:prstGeom prst="rect">
            <a:avLst/>
          </a:prstGeom>
          <a:noFill/>
        </p:spPr>
        <p:txBody>
          <a:bodyPr wrap="none">
            <a:spAutoFit/>
          </a:bodyPr>
          <a:lstStyle/>
          <a:p>
            <a:r>
              <a:rPr sz="1000" b="0">
                <a:solidFill>
                  <a:srgbClr val="898781"/>
                </a:solidFill>
                <a:latin typeface="Segoe UI"/>
              </a:rPr>
              <a:t>Retention Lab | Profit-aware churn &amp; retention targeting | 3/13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55680" cy="822960"/>
          </a:xfrm>
          <a:prstGeom prst="rect">
            <a:avLst/>
          </a:prstGeom>
          <a:noFill/>
        </p:spPr>
        <p:txBody>
          <a:bodyPr wrap="square">
            <a:spAutoFit/>
          </a:bodyPr>
          <a:lstStyle/>
          <a:p>
            <a:r>
              <a:rPr sz="2800" b="1">
                <a:solidFill>
                  <a:srgbClr val="0B0B0B"/>
                </a:solidFill>
                <a:latin typeface="Segoe UI"/>
              </a:rPr>
              <a:t>A calibrated model ranks churners well</a:t>
            </a:r>
          </a:p>
        </p:txBody>
      </p:sp>
      <p:sp>
        <p:nvSpPr>
          <p:cNvPr id="4" name="TextBox 3"/>
          <p:cNvSpPr txBox="1"/>
          <p:nvPr/>
        </p:nvSpPr>
        <p:spPr>
          <a:xfrm>
            <a:off x="502920" y="1143000"/>
            <a:ext cx="4572000" cy="4754880"/>
          </a:xfrm>
          <a:prstGeom prst="rect">
            <a:avLst/>
          </a:prstGeom>
          <a:noFill/>
        </p:spPr>
        <p:txBody>
          <a:bodyPr wrap="square">
            <a:spAutoFit/>
          </a:bodyPr>
          <a:lstStyle/>
          <a:p>
            <a:pPr>
              <a:spcAft>
                <a:spcPts val="800"/>
              </a:spcAft>
            </a:pPr>
            <a:r>
              <a:rPr sz="1500" b="0">
                <a:solidFill>
                  <a:srgbClr val="0B0B0B"/>
                </a:solidFill>
                <a:latin typeface="Segoe UI"/>
              </a:rPr>
              <a:t>• Logistic regression chosen over random forest and XGBoost by a pre-set rule</a:t>
            </a:r>
          </a:p>
          <a:p>
            <a:pPr>
              <a:spcAft>
                <a:spcPts val="800"/>
              </a:spcAft>
            </a:pPr>
            <a:r>
              <a:rPr sz="1500" b="0">
                <a:solidFill>
                  <a:srgbClr val="0B0B0B"/>
                </a:solidFill>
                <a:latin typeface="Segoe UI"/>
              </a:rPr>
              <a:t>• PR-AUC 0.62 vs 0.27 random; ROC-AUC 0.83</a:t>
            </a:r>
          </a:p>
          <a:p>
            <a:pPr>
              <a:spcAft>
                <a:spcPts val="800"/>
              </a:spcAft>
            </a:pPr>
            <a:r>
              <a:rPr sz="1500" b="0">
                <a:solidFill>
                  <a:srgbClr val="0B0B0B"/>
                </a:solidFill>
                <a:latin typeface="Segoe UI"/>
              </a:rPr>
              <a:t>• Probabilities off by 2.0% on average (ECE)</a:t>
            </a:r>
          </a:p>
          <a:p>
            <a:pPr>
              <a:spcAft>
                <a:spcPts val="800"/>
              </a:spcAft>
            </a:pPr>
            <a:r>
              <a:rPr sz="1500" b="0">
                <a:solidFill>
                  <a:srgbClr val="0B0B0B"/>
                </a:solidFill>
                <a:latin typeface="Segoe UI"/>
              </a:rPr>
              <a:t>• Predicts who leaves, not who an offer keeps</a:t>
            </a:r>
          </a:p>
        </p:txBody>
      </p:sp>
      <p:pic>
        <p:nvPicPr>
          <p:cNvPr id="5" name="Picture 4" descr="calibration.png"/>
          <p:cNvPicPr>
            <a:picLocks noChangeAspect="1"/>
          </p:cNvPicPr>
          <p:nvPr/>
        </p:nvPicPr>
        <p:blipFill>
          <a:blip r:embed="rId2"/>
          <a:stretch>
            <a:fillRect/>
          </a:stretch>
        </p:blipFill>
        <p:spPr>
          <a:xfrm>
            <a:off x="5303520" y="1143000"/>
            <a:ext cx="6583680" cy="5266944"/>
          </a:xfrm>
          <a:prstGeom prst="rect">
            <a:avLst/>
          </a:prstGeom>
        </p:spPr>
      </p:pic>
      <p:sp>
        <p:nvSpPr>
          <p:cNvPr id="6" name="TextBox 5"/>
          <p:cNvSpPr txBox="1"/>
          <p:nvPr/>
        </p:nvSpPr>
        <p:spPr>
          <a:xfrm>
            <a:off x="502920" y="6446520"/>
            <a:ext cx="11155680" cy="320040"/>
          </a:xfrm>
          <a:prstGeom prst="rect">
            <a:avLst/>
          </a:prstGeom>
          <a:noFill/>
        </p:spPr>
        <p:txBody>
          <a:bodyPr wrap="none">
            <a:spAutoFit/>
          </a:bodyPr>
          <a:lstStyle/>
          <a:p>
            <a:r>
              <a:rPr sz="1000" b="0">
                <a:solidFill>
                  <a:srgbClr val="898781"/>
                </a:solidFill>
                <a:latin typeface="Segoe UI"/>
              </a:rPr>
              <a:t>Retention Lab | Profit-aware churn &amp; retention targeting | 4/13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55680" cy="822960"/>
          </a:xfrm>
          <a:prstGeom prst="rect">
            <a:avLst/>
          </a:prstGeom>
          <a:noFill/>
        </p:spPr>
        <p:txBody>
          <a:bodyPr wrap="square">
            <a:spAutoFit/>
          </a:bodyPr>
          <a:lstStyle/>
          <a:p>
            <a:r>
              <a:rPr sz="2800" b="1">
                <a:solidFill>
                  <a:srgbClr val="0B0B0B"/>
                </a:solidFill>
                <a:latin typeface="Segoe UI"/>
              </a:rPr>
              <a:t>Risk and value only partly overlap</a:t>
            </a:r>
          </a:p>
        </p:txBody>
      </p:sp>
      <p:sp>
        <p:nvSpPr>
          <p:cNvPr id="4" name="TextBox 3"/>
          <p:cNvSpPr txBox="1"/>
          <p:nvPr/>
        </p:nvSpPr>
        <p:spPr>
          <a:xfrm>
            <a:off x="502920" y="1143000"/>
            <a:ext cx="4572000" cy="4754880"/>
          </a:xfrm>
          <a:prstGeom prst="rect">
            <a:avLst/>
          </a:prstGeom>
          <a:noFill/>
        </p:spPr>
        <p:txBody>
          <a:bodyPr wrap="square">
            <a:spAutoFit/>
          </a:bodyPr>
          <a:lstStyle/>
          <a:p>
            <a:pPr>
              <a:spcAft>
                <a:spcPts val="800"/>
              </a:spcAft>
            </a:pPr>
            <a:r>
              <a:rPr sz="1500" b="0">
                <a:solidFill>
                  <a:srgbClr val="0B0B0B"/>
                </a:solidFill>
                <a:latin typeface="Segoe UI"/>
              </a:rPr>
              <a:t>• Risk-only spends almost the whole budget on high-risk, low-value customers</a:t>
            </a:r>
          </a:p>
          <a:p>
            <a:pPr>
              <a:spcAft>
                <a:spcPts val="800"/>
              </a:spcAft>
            </a:pPr>
            <a:r>
              <a:rPr sz="1500" b="0">
                <a:solidFill>
                  <a:srgbClr val="0B0B0B"/>
                </a:solidFill>
                <a:latin typeface="Segoe UI"/>
              </a:rPr>
              <a:t>• The recommended rule reaches all 51 high-risk, high-value customers</a:t>
            </a:r>
          </a:p>
          <a:p>
            <a:pPr>
              <a:spcAft>
                <a:spcPts val="800"/>
              </a:spcAft>
            </a:pPr>
            <a:r>
              <a:rPr sz="1500" b="0">
                <a:solidFill>
                  <a:srgbClr val="0B0B0B"/>
                </a:solidFill>
                <a:latin typeface="Segoe UI"/>
              </a:rPr>
              <a:t>• It adds valuable customers at moderate risk</a:t>
            </a:r>
          </a:p>
        </p:txBody>
      </p:sp>
      <p:pic>
        <p:nvPicPr>
          <p:cNvPr id="5" name="Picture 4" descr="risk_value.png"/>
          <p:cNvPicPr>
            <a:picLocks noChangeAspect="1"/>
          </p:cNvPicPr>
          <p:nvPr/>
        </p:nvPicPr>
        <p:blipFill>
          <a:blip r:embed="rId2"/>
          <a:stretch>
            <a:fillRect/>
          </a:stretch>
        </p:blipFill>
        <p:spPr>
          <a:xfrm>
            <a:off x="5303520" y="1143000"/>
            <a:ext cx="6583680" cy="4535424"/>
          </a:xfrm>
          <a:prstGeom prst="rect">
            <a:avLst/>
          </a:prstGeom>
        </p:spPr>
      </p:pic>
      <p:sp>
        <p:nvSpPr>
          <p:cNvPr id="6" name="TextBox 5"/>
          <p:cNvSpPr txBox="1"/>
          <p:nvPr/>
        </p:nvSpPr>
        <p:spPr>
          <a:xfrm>
            <a:off x="502920" y="6446520"/>
            <a:ext cx="11155680" cy="320040"/>
          </a:xfrm>
          <a:prstGeom prst="rect">
            <a:avLst/>
          </a:prstGeom>
          <a:noFill/>
        </p:spPr>
        <p:txBody>
          <a:bodyPr wrap="none">
            <a:spAutoFit/>
          </a:bodyPr>
          <a:lstStyle/>
          <a:p>
            <a:r>
              <a:rPr sz="1000" b="0">
                <a:solidFill>
                  <a:srgbClr val="898781"/>
                </a:solidFill>
                <a:latin typeface="Segoe UI"/>
              </a:rPr>
              <a:t>Retention Lab | Profit-aware churn &amp; retention targeting | 5/13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55680" cy="822960"/>
          </a:xfrm>
          <a:prstGeom prst="rect">
            <a:avLst/>
          </a:prstGeom>
          <a:noFill/>
        </p:spPr>
        <p:txBody>
          <a:bodyPr wrap="square">
            <a:spAutoFit/>
          </a:bodyPr>
          <a:lstStyle/>
          <a:p>
            <a:r>
              <a:rPr sz="2800" b="1">
                <a:solidFill>
                  <a:srgbClr val="0B0B0B"/>
                </a:solidFill>
                <a:latin typeface="Segoe UI"/>
              </a:rPr>
              <a:t>The decision rule</a:t>
            </a:r>
          </a:p>
        </p:txBody>
      </p:sp>
      <p:sp>
        <p:nvSpPr>
          <p:cNvPr id="4" name="TextBox 3"/>
          <p:cNvSpPr txBox="1"/>
          <p:nvPr/>
        </p:nvSpPr>
        <p:spPr>
          <a:xfrm>
            <a:off x="502920" y="1051560"/>
            <a:ext cx="11155680" cy="548640"/>
          </a:xfrm>
          <a:prstGeom prst="rect">
            <a:avLst/>
          </a:prstGeom>
          <a:noFill/>
        </p:spPr>
        <p:txBody>
          <a:bodyPr wrap="square">
            <a:spAutoFit/>
          </a:bodyPr>
          <a:lstStyle/>
          <a:p>
            <a:r>
              <a:rPr sz="1600" b="0">
                <a:solidFill>
                  <a:srgbClr val="52514E"/>
                </a:solidFill>
                <a:latin typeface="Segoe UI"/>
              </a:rPr>
              <a:t>Expected value = p(churn) x save rate x value - (offer + contact cost)</a:t>
            </a:r>
          </a:p>
        </p:txBody>
      </p:sp>
      <p:sp>
        <p:nvSpPr>
          <p:cNvPr id="5" name="TextBox 4"/>
          <p:cNvSpPr txBox="1"/>
          <p:nvPr/>
        </p:nvSpPr>
        <p:spPr>
          <a:xfrm>
            <a:off x="502920" y="1645920"/>
            <a:ext cx="11155680" cy="4754880"/>
          </a:xfrm>
          <a:prstGeom prst="rect">
            <a:avLst/>
          </a:prstGeom>
          <a:noFill/>
        </p:spPr>
        <p:txBody>
          <a:bodyPr wrap="square">
            <a:spAutoFit/>
          </a:bodyPr>
          <a:lstStyle/>
          <a:p>
            <a:pPr>
              <a:spcAft>
                <a:spcPts val="800"/>
              </a:spcAft>
            </a:pPr>
            <a:r>
              <a:rPr sz="1800" b="0">
                <a:solidFill>
                  <a:srgbClr val="0B0B0B"/>
                </a:solidFill>
                <a:latin typeface="Segoe UI"/>
              </a:rPr>
              <a:t>• Contact only customers with positive expected value</a:t>
            </a:r>
          </a:p>
          <a:p>
            <a:pPr>
              <a:spcAft>
                <a:spcPts val="800"/>
              </a:spcAft>
            </a:pPr>
            <a:r>
              <a:rPr sz="1800" b="0">
                <a:solidFill>
                  <a:srgbClr val="0B0B0B"/>
                </a:solidFill>
                <a:latin typeface="Segoe UI"/>
              </a:rPr>
              <a:t>• Optimiser picks customer and offer within budget, one offer each, max 30% contacted</a:t>
            </a:r>
          </a:p>
          <a:p>
            <a:pPr>
              <a:spcAft>
                <a:spcPts val="800"/>
              </a:spcAft>
            </a:pPr>
            <a:r>
              <a:rPr sz="1800" b="0">
                <a:solidFill>
                  <a:srgbClr val="0B0B0B"/>
                </a:solidFill>
                <a:latin typeface="Segoe UI"/>
              </a:rPr>
              <a:t>• Four offers with eligibility rules: credit, contract upgrade, service bundle, loyalty reward</a:t>
            </a:r>
          </a:p>
          <a:p>
            <a:pPr>
              <a:spcAft>
                <a:spcPts val="800"/>
              </a:spcAft>
            </a:pPr>
            <a:r>
              <a:rPr sz="1800" b="0">
                <a:solidFill>
                  <a:srgbClr val="0B0B0B"/>
                </a:solidFill>
                <a:latin typeface="Segoe UI"/>
              </a:rPr>
              <a:t>• All costs and save rates are visible, sourced assumptions</a:t>
            </a:r>
          </a:p>
        </p:txBody>
      </p:sp>
      <p:sp>
        <p:nvSpPr>
          <p:cNvPr id="6" name="TextBox 5"/>
          <p:cNvSpPr txBox="1"/>
          <p:nvPr/>
        </p:nvSpPr>
        <p:spPr>
          <a:xfrm>
            <a:off x="502920" y="6446520"/>
            <a:ext cx="11155680" cy="320040"/>
          </a:xfrm>
          <a:prstGeom prst="rect">
            <a:avLst/>
          </a:prstGeom>
          <a:noFill/>
        </p:spPr>
        <p:txBody>
          <a:bodyPr wrap="none">
            <a:spAutoFit/>
          </a:bodyPr>
          <a:lstStyle/>
          <a:p>
            <a:r>
              <a:rPr sz="1000" b="0">
                <a:solidFill>
                  <a:srgbClr val="898781"/>
                </a:solidFill>
                <a:latin typeface="Segoe UI"/>
              </a:rPr>
              <a:t>Retention Lab | Profit-aware churn &amp; retention targeting | 6/13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55680" cy="822960"/>
          </a:xfrm>
          <a:prstGeom prst="rect">
            <a:avLst/>
          </a:prstGeom>
          <a:noFill/>
        </p:spPr>
        <p:txBody>
          <a:bodyPr wrap="square">
            <a:spAutoFit/>
          </a:bodyPr>
          <a:lstStyle/>
          <a:p>
            <a:r>
              <a:rPr sz="2800" b="1">
                <a:solidFill>
                  <a:srgbClr val="0B0B0B"/>
                </a:solidFill>
                <a:latin typeface="Segoe UI"/>
              </a:rPr>
              <a:t>Same budget, more value</a:t>
            </a:r>
          </a:p>
        </p:txBody>
      </p:sp>
      <p:sp>
        <p:nvSpPr>
          <p:cNvPr id="4" name="TextBox 3"/>
          <p:cNvSpPr txBox="1"/>
          <p:nvPr/>
        </p:nvSpPr>
        <p:spPr>
          <a:xfrm>
            <a:off x="502920" y="1143000"/>
            <a:ext cx="11155680" cy="4754880"/>
          </a:xfrm>
          <a:prstGeom prst="rect">
            <a:avLst/>
          </a:prstGeom>
          <a:noFill/>
        </p:spPr>
        <p:txBody>
          <a:bodyPr wrap="square">
            <a:spAutoFit/>
          </a:bodyPr>
          <a:lstStyle/>
          <a:p>
            <a:pPr>
              <a:spcAft>
                <a:spcPts val="800"/>
              </a:spcAft>
            </a:pPr>
            <a:r>
              <a:rPr sz="1800" b="0">
                <a:solidFill>
                  <a:srgbClr val="0B0B0B"/>
                </a:solidFill>
                <a:latin typeface="Segoe UI"/>
              </a:rPr>
              <a:t>• Better targeting: +$1,032; with actual outcomes +$1,308 (95% CI $509 to $2,153)</a:t>
            </a:r>
          </a:p>
        </p:txBody>
      </p:sp>
      <p:graphicFrame>
        <p:nvGraphicFramePr>
          <p:cNvPr id="5" name="Table 4"/>
          <p:cNvGraphicFramePr>
            <a:graphicFrameLocks noGrp="1"/>
          </p:cNvGraphicFramePr>
          <p:nvPr/>
        </p:nvGraphicFramePr>
        <p:xfrm>
          <a:off x="502920" y="1581912"/>
          <a:ext cx="11155680" cy="1536192"/>
        </p:xfrm>
        <a:graphic>
          <a:graphicData uri="http://schemas.openxmlformats.org/drawingml/2006/table">
            <a:tbl>
              <a:tblPr firstRow="1" bandRow="1">
                <a:tableStyleId>{5C22544A-7EE6-4342-B048-85BDC9FD1C3A}</a:tableStyleId>
              </a:tblPr>
              <a:tblGrid>
                <a:gridCol w="1859280"/>
                <a:gridCol w="1859280"/>
                <a:gridCol w="1859280"/>
                <a:gridCol w="1859280"/>
                <a:gridCol w="1859280"/>
                <a:gridCol w="1859280"/>
              </a:tblGrid>
              <a:tr h="384048">
                <a:tc>
                  <a:txBody>
                    <a:bodyPr/>
                    <a:lstStyle/>
                    <a:p>
                      <a:r>
                        <a:rPr sz="1200" b="1">
                          <a:solidFill>
                            <a:srgbClr val="FFFFFF"/>
                          </a:solidFill>
                          <a:latin typeface="Segoe UI"/>
                        </a:rPr>
                        <a:t>Rule</a:t>
                      </a:r>
                    </a:p>
                  </a:txBody>
                  <a:tcPr/>
                </a:tc>
                <a:tc>
                  <a:txBody>
                    <a:bodyPr/>
                    <a:lstStyle/>
                    <a:p>
                      <a:r>
                        <a:rPr sz="1200" b="1">
                          <a:solidFill>
                            <a:srgbClr val="FFFFFF"/>
                          </a:solidFill>
                          <a:latin typeface="Segoe UI"/>
                        </a:rPr>
                        <a:t>Customers</a:t>
                      </a:r>
                    </a:p>
                  </a:txBody>
                  <a:tcPr/>
                </a:tc>
                <a:tc>
                  <a:txBody>
                    <a:bodyPr/>
                    <a:lstStyle/>
                    <a:p>
                      <a:r>
                        <a:rPr sz="1200" b="1">
                          <a:solidFill>
                            <a:srgbClr val="FFFFFF"/>
                          </a:solidFill>
                          <a:latin typeface="Segoe UI"/>
                        </a:rPr>
                        <a:t>Net value</a:t>
                      </a:r>
                    </a:p>
                  </a:txBody>
                  <a:tcPr/>
                </a:tc>
                <a:tc>
                  <a:txBody>
                    <a:bodyPr/>
                    <a:lstStyle/>
                    <a:p>
                      <a:r>
                        <a:rPr sz="1200" b="1">
                          <a:solidFill>
                            <a:srgbClr val="FFFFFF"/>
                          </a:solidFill>
                          <a:latin typeface="Segoe UI"/>
                        </a:rPr>
                        <a:t>ROI</a:t>
                      </a:r>
                    </a:p>
                  </a:txBody>
                  <a:tcPr/>
                </a:tc>
                <a:tc>
                  <a:txBody>
                    <a:bodyPr/>
                    <a:lstStyle/>
                    <a:p>
                      <a:r>
                        <a:rPr sz="1200" b="1">
                          <a:solidFill>
                            <a:srgbClr val="FFFFFF"/>
                          </a:solidFill>
                          <a:latin typeface="Segoe UI"/>
                        </a:rPr>
                        <a:t>Precision</a:t>
                      </a:r>
                    </a:p>
                  </a:txBody>
                  <a:tcPr/>
                </a:tc>
                <a:tc>
                  <a:txBody>
                    <a:bodyPr/>
                    <a:lstStyle/>
                    <a:p>
                      <a:r>
                        <a:rPr sz="1200" b="1">
                          <a:solidFill>
                            <a:srgbClr val="FFFFFF"/>
                          </a:solidFill>
                          <a:latin typeface="Segoe UI"/>
                        </a:rPr>
                        <a:t>HR/HV coverage</a:t>
                      </a:r>
                    </a:p>
                  </a:txBody>
                  <a:tcPr/>
                </a:tc>
              </a:tr>
              <a:tr h="384048">
                <a:tc>
                  <a:txBody>
                    <a:bodyPr/>
                    <a:lstStyle/>
                    <a:p>
                      <a:r>
                        <a:rPr sz="1200" b="0">
                          <a:solidFill>
                            <a:srgbClr val="0B0B0B"/>
                          </a:solidFill>
                          <a:latin typeface="Segoe UI"/>
                        </a:rPr>
                        <a:t>Highest churn risk</a:t>
                      </a:r>
                    </a:p>
                  </a:txBody>
                  <a:tcPr/>
                </a:tc>
                <a:tc>
                  <a:txBody>
                    <a:bodyPr/>
                    <a:lstStyle/>
                    <a:p>
                      <a:r>
                        <a:rPr sz="1200" b="0">
                          <a:solidFill>
                            <a:srgbClr val="0B0B0B"/>
                          </a:solidFill>
                          <a:latin typeface="Segoe UI"/>
                        </a:rPr>
                        <a:t>140</a:t>
                      </a:r>
                    </a:p>
                  </a:txBody>
                  <a:tcPr/>
                </a:tc>
                <a:tc>
                  <a:txBody>
                    <a:bodyPr/>
                    <a:lstStyle/>
                    <a:p>
                      <a:r>
                        <a:rPr sz="1200" b="0">
                          <a:solidFill>
                            <a:srgbClr val="0B0B0B"/>
                          </a:solidFill>
                          <a:latin typeface="Segoe UI"/>
                        </a:rPr>
                        <a:t>$1,098</a:t>
                      </a:r>
                    </a:p>
                  </a:txBody>
                  <a:tcPr/>
                </a:tc>
                <a:tc>
                  <a:txBody>
                    <a:bodyPr/>
                    <a:lstStyle/>
                    <a:p>
                      <a:r>
                        <a:rPr sz="1200" b="0">
                          <a:solidFill>
                            <a:srgbClr val="0B0B0B"/>
                          </a:solidFill>
                          <a:latin typeface="Segoe UI"/>
                        </a:rPr>
                        <a:t>31%</a:t>
                      </a:r>
                    </a:p>
                  </a:txBody>
                  <a:tcPr/>
                </a:tc>
                <a:tc>
                  <a:txBody>
                    <a:bodyPr/>
                    <a:lstStyle/>
                    <a:p>
                      <a:r>
                        <a:rPr sz="1200" b="0">
                          <a:solidFill>
                            <a:srgbClr val="0B0B0B"/>
                          </a:solidFill>
                          <a:latin typeface="Segoe UI"/>
                        </a:rPr>
                        <a:t>70%</a:t>
                      </a:r>
                    </a:p>
                  </a:txBody>
                  <a:tcPr/>
                </a:tc>
                <a:tc>
                  <a:txBody>
                    <a:bodyPr/>
                    <a:lstStyle/>
                    <a:p>
                      <a:r>
                        <a:rPr sz="1200" b="0">
                          <a:solidFill>
                            <a:srgbClr val="0B0B0B"/>
                          </a:solidFill>
                          <a:latin typeface="Segoe UI"/>
                        </a:rPr>
                        <a:t>4%</a:t>
                      </a:r>
                    </a:p>
                  </a:txBody>
                  <a:tcPr/>
                </a:tc>
              </a:tr>
              <a:tr h="384048">
                <a:tc>
                  <a:txBody>
                    <a:bodyPr/>
                    <a:lstStyle/>
                    <a:p>
                      <a:r>
                        <a:rPr sz="1200" b="0">
                          <a:solidFill>
                            <a:srgbClr val="0B0B0B"/>
                          </a:solidFill>
                          <a:latin typeface="Segoe UI"/>
                        </a:rPr>
                        <a:t>Expected value</a:t>
                      </a:r>
                    </a:p>
                  </a:txBody>
                  <a:tcPr/>
                </a:tc>
                <a:tc>
                  <a:txBody>
                    <a:bodyPr/>
                    <a:lstStyle/>
                    <a:p>
                      <a:r>
                        <a:rPr sz="1200" b="0">
                          <a:solidFill>
                            <a:srgbClr val="0B0B0B"/>
                          </a:solidFill>
                          <a:latin typeface="Segoe UI"/>
                        </a:rPr>
                        <a:t>140</a:t>
                      </a:r>
                    </a:p>
                  </a:txBody>
                  <a:tcPr/>
                </a:tc>
                <a:tc>
                  <a:txBody>
                    <a:bodyPr/>
                    <a:lstStyle/>
                    <a:p>
                      <a:r>
                        <a:rPr sz="1200" b="0">
                          <a:solidFill>
                            <a:srgbClr val="0B0B0B"/>
                          </a:solidFill>
                          <a:latin typeface="Segoe UI"/>
                        </a:rPr>
                        <a:t>$2,130</a:t>
                      </a:r>
                    </a:p>
                  </a:txBody>
                  <a:tcPr/>
                </a:tc>
                <a:tc>
                  <a:txBody>
                    <a:bodyPr/>
                    <a:lstStyle/>
                    <a:p>
                      <a:r>
                        <a:rPr sz="1200" b="0">
                          <a:solidFill>
                            <a:srgbClr val="0B0B0B"/>
                          </a:solidFill>
                          <a:latin typeface="Segoe UI"/>
                        </a:rPr>
                        <a:t>61%</a:t>
                      </a:r>
                    </a:p>
                  </a:txBody>
                  <a:tcPr/>
                </a:tc>
                <a:tc>
                  <a:txBody>
                    <a:bodyPr/>
                    <a:lstStyle/>
                    <a:p>
                      <a:r>
                        <a:rPr sz="1200" b="0">
                          <a:solidFill>
                            <a:srgbClr val="0B0B0B"/>
                          </a:solidFill>
                          <a:latin typeface="Segoe UI"/>
                        </a:rPr>
                        <a:t>62%</a:t>
                      </a:r>
                    </a:p>
                  </a:txBody>
                  <a:tcPr/>
                </a:tc>
                <a:tc>
                  <a:txBody>
                    <a:bodyPr/>
                    <a:lstStyle/>
                    <a:p>
                      <a:r>
                        <a:rPr sz="1200" b="0">
                          <a:solidFill>
                            <a:srgbClr val="0B0B0B"/>
                          </a:solidFill>
                          <a:latin typeface="Segoe UI"/>
                        </a:rPr>
                        <a:t>96%</a:t>
                      </a:r>
                    </a:p>
                  </a:txBody>
                  <a:tcPr/>
                </a:tc>
              </a:tr>
              <a:tr h="384048">
                <a:tc>
                  <a:txBody>
                    <a:bodyPr/>
                    <a:lstStyle/>
                    <a:p>
                      <a:r>
                        <a:rPr sz="1200" b="0">
                          <a:solidFill>
                            <a:srgbClr val="0B0B0B"/>
                          </a:solidFill>
                          <a:latin typeface="Segoe UI"/>
                        </a:rPr>
                        <a:t>EV + segment offers</a:t>
                      </a:r>
                    </a:p>
                  </a:txBody>
                  <a:tcPr/>
                </a:tc>
                <a:tc>
                  <a:txBody>
                    <a:bodyPr/>
                    <a:lstStyle/>
                    <a:p>
                      <a:r>
                        <a:rPr sz="1200" b="0">
                          <a:solidFill>
                            <a:srgbClr val="0B0B0B"/>
                          </a:solidFill>
                          <a:latin typeface="Segoe UI"/>
                        </a:rPr>
                        <a:t>152</a:t>
                      </a:r>
                    </a:p>
                  </a:txBody>
                  <a:tcPr/>
                </a:tc>
                <a:tc>
                  <a:txBody>
                    <a:bodyPr/>
                    <a:lstStyle/>
                    <a:p>
                      <a:r>
                        <a:rPr sz="1200" b="0">
                          <a:solidFill>
                            <a:srgbClr val="0B0B0B"/>
                          </a:solidFill>
                          <a:latin typeface="Segoe UI"/>
                        </a:rPr>
                        <a:t>$2,420</a:t>
                      </a:r>
                    </a:p>
                  </a:txBody>
                  <a:tcPr/>
                </a:tc>
                <a:tc>
                  <a:txBody>
                    <a:bodyPr/>
                    <a:lstStyle/>
                    <a:p>
                      <a:r>
                        <a:rPr sz="1200" b="0">
                          <a:solidFill>
                            <a:srgbClr val="0B0B0B"/>
                          </a:solidFill>
                          <a:latin typeface="Segoe UI"/>
                        </a:rPr>
                        <a:t>69%</a:t>
                      </a:r>
                    </a:p>
                  </a:txBody>
                  <a:tcPr/>
                </a:tc>
                <a:tc>
                  <a:txBody>
                    <a:bodyPr/>
                    <a:lstStyle/>
                    <a:p>
                      <a:r>
                        <a:rPr sz="1200" b="0">
                          <a:solidFill>
                            <a:srgbClr val="0B0B0B"/>
                          </a:solidFill>
                          <a:latin typeface="Segoe UI"/>
                        </a:rPr>
                        <a:t>60%</a:t>
                      </a:r>
                    </a:p>
                  </a:txBody>
                  <a:tcPr/>
                </a:tc>
                <a:tc>
                  <a:txBody>
                    <a:bodyPr/>
                    <a:lstStyle/>
                    <a:p>
                      <a:r>
                        <a:rPr sz="1200" b="0">
                          <a:solidFill>
                            <a:srgbClr val="0B0B0B"/>
                          </a:solidFill>
                          <a:latin typeface="Segoe UI"/>
                        </a:rPr>
                        <a:t>100%</a:t>
                      </a:r>
                    </a:p>
                  </a:txBody>
                  <a:tcPr/>
                </a:tc>
              </a:tr>
            </a:tbl>
          </a:graphicData>
        </a:graphic>
      </p:graphicFrame>
      <p:sp>
        <p:nvSpPr>
          <p:cNvPr id="6" name="TextBox 5"/>
          <p:cNvSpPr txBox="1"/>
          <p:nvPr/>
        </p:nvSpPr>
        <p:spPr>
          <a:xfrm>
            <a:off x="502920" y="6446520"/>
            <a:ext cx="11155680" cy="320040"/>
          </a:xfrm>
          <a:prstGeom prst="rect">
            <a:avLst/>
          </a:prstGeom>
          <a:noFill/>
        </p:spPr>
        <p:txBody>
          <a:bodyPr wrap="none">
            <a:spAutoFit/>
          </a:bodyPr>
          <a:lstStyle/>
          <a:p>
            <a:r>
              <a:rPr sz="1000" b="0">
                <a:solidFill>
                  <a:srgbClr val="898781"/>
                </a:solidFill>
                <a:latin typeface="Segoe UI"/>
              </a:rPr>
              <a:t>Retention Lab | Profit-aware churn &amp; retention targeting | 7/13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55680" cy="822960"/>
          </a:xfrm>
          <a:prstGeom prst="rect">
            <a:avLst/>
          </a:prstGeom>
          <a:noFill/>
        </p:spPr>
        <p:txBody>
          <a:bodyPr wrap="square">
            <a:spAutoFit/>
          </a:bodyPr>
          <a:lstStyle/>
          <a:p>
            <a:r>
              <a:rPr sz="2800" b="1">
                <a:solidFill>
                  <a:srgbClr val="0B0B0B"/>
                </a:solidFill>
                <a:latin typeface="Segoe UI"/>
              </a:rPr>
              <a:t>How much to spend</a:t>
            </a:r>
          </a:p>
        </p:txBody>
      </p:sp>
      <p:sp>
        <p:nvSpPr>
          <p:cNvPr id="4" name="TextBox 3"/>
          <p:cNvSpPr txBox="1"/>
          <p:nvPr/>
        </p:nvSpPr>
        <p:spPr>
          <a:xfrm>
            <a:off x="502920" y="1143000"/>
            <a:ext cx="4572000" cy="4754880"/>
          </a:xfrm>
          <a:prstGeom prst="rect">
            <a:avLst/>
          </a:prstGeom>
          <a:noFill/>
        </p:spPr>
        <p:txBody>
          <a:bodyPr wrap="square">
            <a:spAutoFit/>
          </a:bodyPr>
          <a:lstStyle/>
          <a:p>
            <a:pPr>
              <a:spcAft>
                <a:spcPts val="800"/>
              </a:spcAft>
            </a:pPr>
            <a:r>
              <a:rPr sz="1500" b="0">
                <a:solidFill>
                  <a:srgbClr val="0B0B0B"/>
                </a:solidFill>
                <a:latin typeface="Segoe UI"/>
              </a:rPr>
              <a:t>• Recommended budget: $6.00 per customer in the base (chosen on validation)</a:t>
            </a:r>
          </a:p>
          <a:p>
            <a:pPr>
              <a:spcAft>
                <a:spcPts val="800"/>
              </a:spcAft>
            </a:pPr>
            <a:r>
              <a:rPr sz="1500" b="0">
                <a:solidFill>
                  <a:srgbClr val="0B0B0B"/>
                </a:solidFill>
                <a:latin typeface="Segoe UI"/>
              </a:rPr>
              <a:t>• Test: 310 offers (22% of customers), $8,450, net $3,692 (ROI 44%)</a:t>
            </a:r>
          </a:p>
          <a:p>
            <a:pPr>
              <a:spcAft>
                <a:spcPts val="800"/>
              </a:spcAft>
            </a:pPr>
            <a:r>
              <a:rPr sz="1500" b="0">
                <a:solidFill>
                  <a:srgbClr val="0B0B0B"/>
                </a:solidFill>
                <a:latin typeface="Segoe UI"/>
              </a:rPr>
              <a:t>• Stop adding budget when the next step earns less than 10%</a:t>
            </a:r>
          </a:p>
        </p:txBody>
      </p:sp>
      <p:pic>
        <p:nvPicPr>
          <p:cNvPr id="5" name="Picture 4" descr="profit_curve.png"/>
          <p:cNvPicPr>
            <a:picLocks noChangeAspect="1"/>
          </p:cNvPicPr>
          <p:nvPr/>
        </p:nvPicPr>
        <p:blipFill>
          <a:blip r:embed="rId2"/>
          <a:stretch>
            <a:fillRect/>
          </a:stretch>
        </p:blipFill>
        <p:spPr>
          <a:xfrm>
            <a:off x="5303520" y="1143000"/>
            <a:ext cx="6583680" cy="4989736"/>
          </a:xfrm>
          <a:prstGeom prst="rect">
            <a:avLst/>
          </a:prstGeom>
        </p:spPr>
      </p:pic>
      <p:sp>
        <p:nvSpPr>
          <p:cNvPr id="6" name="TextBox 5"/>
          <p:cNvSpPr txBox="1"/>
          <p:nvPr/>
        </p:nvSpPr>
        <p:spPr>
          <a:xfrm>
            <a:off x="502920" y="6446520"/>
            <a:ext cx="11155680" cy="320040"/>
          </a:xfrm>
          <a:prstGeom prst="rect">
            <a:avLst/>
          </a:prstGeom>
          <a:noFill/>
        </p:spPr>
        <p:txBody>
          <a:bodyPr wrap="none">
            <a:spAutoFit/>
          </a:bodyPr>
          <a:lstStyle/>
          <a:p>
            <a:r>
              <a:rPr sz="1000" b="0">
                <a:solidFill>
                  <a:srgbClr val="898781"/>
                </a:solidFill>
                <a:latin typeface="Segoe UI"/>
              </a:rPr>
              <a:t>Retention Lab | Profit-aware churn &amp; retention targeting | 8/13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55680" cy="822960"/>
          </a:xfrm>
          <a:prstGeom prst="rect">
            <a:avLst/>
          </a:prstGeom>
          <a:noFill/>
        </p:spPr>
        <p:txBody>
          <a:bodyPr wrap="square">
            <a:spAutoFit/>
          </a:bodyPr>
          <a:lstStyle/>
          <a:p>
            <a:r>
              <a:rPr sz="2800" b="1">
                <a:solidFill>
                  <a:srgbClr val="0B0B0B"/>
                </a:solidFill>
                <a:latin typeface="Segoe UI"/>
              </a:rPr>
              <a:t>How robust is it?</a:t>
            </a:r>
          </a:p>
        </p:txBody>
      </p:sp>
      <p:sp>
        <p:nvSpPr>
          <p:cNvPr id="4" name="TextBox 3"/>
          <p:cNvSpPr txBox="1"/>
          <p:nvPr/>
        </p:nvSpPr>
        <p:spPr>
          <a:xfrm>
            <a:off x="502920" y="1143000"/>
            <a:ext cx="4572000" cy="4754880"/>
          </a:xfrm>
          <a:prstGeom prst="rect">
            <a:avLst/>
          </a:prstGeom>
          <a:noFill/>
        </p:spPr>
        <p:txBody>
          <a:bodyPr wrap="square">
            <a:spAutoFit/>
          </a:bodyPr>
          <a:lstStyle/>
          <a:p>
            <a:pPr>
              <a:spcAft>
                <a:spcPts val="800"/>
              </a:spcAft>
            </a:pPr>
            <a:r>
              <a:rPr sz="1500" b="0">
                <a:solidFill>
                  <a:srgbClr val="0B0B0B"/>
                </a:solidFill>
                <a:latin typeface="Segoe UI"/>
              </a:rPr>
              <a:t>• Break-even save rate 11.8% at the base budget, 13.9% at the recommended budget (assumed 20%)</a:t>
            </a:r>
          </a:p>
          <a:p>
            <a:pPr>
              <a:spcAft>
                <a:spcPts val="800"/>
              </a:spcAft>
            </a:pPr>
            <a:r>
              <a:rPr sz="1500" b="0">
                <a:solidFill>
                  <a:srgbClr val="0B0B0B"/>
                </a:solidFill>
                <a:latin typeface="Segoe UI"/>
              </a:rPr>
              <a:t>• Pessimistic $0 (no campaign) / base $2,420 / optimistic $18,525</a:t>
            </a:r>
          </a:p>
          <a:p>
            <a:pPr>
              <a:spcAft>
                <a:spcPts val="800"/>
              </a:spcAft>
            </a:pPr>
            <a:r>
              <a:rPr sz="1500" b="0">
                <a:solidFill>
                  <a:srgbClr val="0B0B0B"/>
                </a:solidFill>
                <a:latin typeface="Segoe UI"/>
              </a:rPr>
              <a:t>• Below 8.9% save rate: run no campaign</a:t>
            </a:r>
          </a:p>
        </p:txBody>
      </p:sp>
      <p:pic>
        <p:nvPicPr>
          <p:cNvPr id="5" name="Picture 4" descr="tornado.png"/>
          <p:cNvPicPr>
            <a:picLocks noChangeAspect="1"/>
          </p:cNvPicPr>
          <p:nvPr/>
        </p:nvPicPr>
        <p:blipFill>
          <a:blip r:embed="rId2"/>
          <a:stretch>
            <a:fillRect/>
          </a:stretch>
        </p:blipFill>
        <p:spPr>
          <a:xfrm>
            <a:off x="5303520" y="1143000"/>
            <a:ext cx="6583680" cy="3326490"/>
          </a:xfrm>
          <a:prstGeom prst="rect">
            <a:avLst/>
          </a:prstGeom>
        </p:spPr>
      </p:pic>
      <p:sp>
        <p:nvSpPr>
          <p:cNvPr id="6" name="TextBox 5"/>
          <p:cNvSpPr txBox="1"/>
          <p:nvPr/>
        </p:nvSpPr>
        <p:spPr>
          <a:xfrm>
            <a:off x="502920" y="6446520"/>
            <a:ext cx="11155680" cy="320040"/>
          </a:xfrm>
          <a:prstGeom prst="rect">
            <a:avLst/>
          </a:prstGeom>
          <a:noFill/>
        </p:spPr>
        <p:txBody>
          <a:bodyPr wrap="none">
            <a:spAutoFit/>
          </a:bodyPr>
          <a:lstStyle/>
          <a:p>
            <a:r>
              <a:rPr sz="1000" b="0">
                <a:solidFill>
                  <a:srgbClr val="898781"/>
                </a:solidFill>
                <a:latin typeface="Segoe UI"/>
              </a:rPr>
              <a:t>Retention Lab | Profit-aware churn &amp; retention targeting | 9/13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55680" cy="822960"/>
          </a:xfrm>
          <a:prstGeom prst="rect">
            <a:avLst/>
          </a:prstGeom>
          <a:noFill/>
        </p:spPr>
        <p:txBody>
          <a:bodyPr wrap="square">
            <a:spAutoFit/>
          </a:bodyPr>
          <a:lstStyle/>
          <a:p>
            <a:r>
              <a:rPr sz="2800" b="1">
                <a:solidFill>
                  <a:srgbClr val="0B0B0B"/>
                </a:solidFill>
                <a:latin typeface="Segoe UI"/>
              </a:rPr>
              <a:t>Fairness and customer experience</a:t>
            </a:r>
          </a:p>
        </p:txBody>
      </p:sp>
      <p:sp>
        <p:nvSpPr>
          <p:cNvPr id="4" name="TextBox 3"/>
          <p:cNvSpPr txBox="1"/>
          <p:nvPr/>
        </p:nvSpPr>
        <p:spPr>
          <a:xfrm>
            <a:off x="502920" y="1143000"/>
            <a:ext cx="4572000" cy="4754880"/>
          </a:xfrm>
          <a:prstGeom prst="rect">
            <a:avLst/>
          </a:prstGeom>
          <a:noFill/>
        </p:spPr>
        <p:txBody>
          <a:bodyPr wrap="square">
            <a:spAutoFit/>
          </a:bodyPr>
          <a:lstStyle/>
          <a:p>
            <a:pPr>
              <a:spcAft>
                <a:spcPts val="800"/>
              </a:spcAft>
            </a:pPr>
            <a:r>
              <a:rPr sz="1500" b="0">
                <a:solidFill>
                  <a:srgbClr val="0B0B0B"/>
                </a:solidFill>
                <a:latin typeface="Segoe UI"/>
              </a:rPr>
              <a:t>• Seniors contacted 3.7x as often - mostly higher risk, partly higher value</a:t>
            </a:r>
          </a:p>
          <a:p>
            <a:pPr>
              <a:spcAft>
                <a:spcPts val="800"/>
              </a:spcAft>
            </a:pPr>
            <a:r>
              <a:rPr sz="1500" b="0">
                <a:solidFill>
                  <a:srgbClr val="0B0B0B"/>
                </a:solidFill>
                <a:latin typeface="Segoe UI"/>
              </a:rPr>
              <a:t>• No protected attribute is a model input; every wave is audited</a:t>
            </a:r>
          </a:p>
          <a:p>
            <a:pPr>
              <a:spcAft>
                <a:spcPts val="800"/>
              </a:spcAft>
            </a:pPr>
            <a:r>
              <a:rPr sz="1500" b="0">
                <a:solidFill>
                  <a:srgbClr val="0B0B0B"/>
                </a:solidFill>
                <a:latin typeface="Segoe UI"/>
              </a:rPr>
              <a:t>• Loyal low-risk customers rarely get offers: add a loyalty benefit</a:t>
            </a:r>
          </a:p>
        </p:txBody>
      </p:sp>
      <p:pic>
        <p:nvPicPr>
          <p:cNvPr id="5" name="Picture 4" descr="fairness.png"/>
          <p:cNvPicPr>
            <a:picLocks noChangeAspect="1"/>
          </p:cNvPicPr>
          <p:nvPr/>
        </p:nvPicPr>
        <p:blipFill>
          <a:blip r:embed="rId2"/>
          <a:stretch>
            <a:fillRect/>
          </a:stretch>
        </p:blipFill>
        <p:spPr>
          <a:xfrm>
            <a:off x="5303520" y="1143000"/>
            <a:ext cx="6583680" cy="2779776"/>
          </a:xfrm>
          <a:prstGeom prst="rect">
            <a:avLst/>
          </a:prstGeom>
        </p:spPr>
      </p:pic>
      <p:sp>
        <p:nvSpPr>
          <p:cNvPr id="6" name="TextBox 5"/>
          <p:cNvSpPr txBox="1"/>
          <p:nvPr/>
        </p:nvSpPr>
        <p:spPr>
          <a:xfrm>
            <a:off x="502920" y="6446520"/>
            <a:ext cx="11155680" cy="320040"/>
          </a:xfrm>
          <a:prstGeom prst="rect">
            <a:avLst/>
          </a:prstGeom>
          <a:noFill/>
        </p:spPr>
        <p:txBody>
          <a:bodyPr wrap="none">
            <a:spAutoFit/>
          </a:bodyPr>
          <a:lstStyle/>
          <a:p>
            <a:r>
              <a:rPr sz="1000" b="0">
                <a:solidFill>
                  <a:srgbClr val="898781"/>
                </a:solidFill>
                <a:latin typeface="Segoe UI"/>
              </a:rPr>
              <a:t>Retention Lab | Profit-aware churn &amp; retention targeting | 10/13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55680" cy="822960"/>
          </a:xfrm>
          <a:prstGeom prst="rect">
            <a:avLst/>
          </a:prstGeom>
          <a:noFill/>
        </p:spPr>
        <p:txBody>
          <a:bodyPr wrap="square">
            <a:spAutoFit/>
          </a:bodyPr>
          <a:lstStyle/>
          <a:p>
            <a:r>
              <a:rPr sz="2800" b="1">
                <a:solidFill>
                  <a:srgbClr val="0B0B0B"/>
                </a:solidFill>
                <a:latin typeface="Segoe UI"/>
              </a:rPr>
              <a:t>Risks and limits</a:t>
            </a:r>
          </a:p>
        </p:txBody>
      </p:sp>
      <p:sp>
        <p:nvSpPr>
          <p:cNvPr id="4" name="TextBox 3"/>
          <p:cNvSpPr txBox="1"/>
          <p:nvPr/>
        </p:nvSpPr>
        <p:spPr>
          <a:xfrm>
            <a:off x="502920" y="1143000"/>
            <a:ext cx="11155680" cy="4754880"/>
          </a:xfrm>
          <a:prstGeom prst="rect">
            <a:avLst/>
          </a:prstGeom>
          <a:noFill/>
        </p:spPr>
        <p:txBody>
          <a:bodyPr wrap="square">
            <a:spAutoFit/>
          </a:bodyPr>
          <a:lstStyle/>
          <a:p>
            <a:pPr>
              <a:spcAft>
                <a:spcPts val="800"/>
              </a:spcAft>
            </a:pPr>
            <a:r>
              <a:rPr sz="1800" b="0">
                <a:solidFill>
                  <a:srgbClr val="0B0B0B"/>
                </a:solidFill>
                <a:latin typeface="Segoe UI"/>
              </a:rPr>
              <a:t>• No causal evidence: save rates are assumptions; contact can even raise churn</a:t>
            </a:r>
          </a:p>
          <a:p>
            <a:pPr>
              <a:spcAft>
                <a:spcPts val="800"/>
              </a:spcAft>
            </a:pPr>
            <a:r>
              <a:rPr sz="1800" b="0">
                <a:solidFill>
                  <a:srgbClr val="0B0B0B"/>
                </a:solidFill>
                <a:latin typeface="Segoe UI"/>
              </a:rPr>
              <a:t>• Teaching sample: fictional US data, 26.5% churn vs about 1% a month in reality</a:t>
            </a:r>
          </a:p>
          <a:p>
            <a:pPr>
              <a:spcAft>
                <a:spcPts val="800"/>
              </a:spcAft>
            </a:pPr>
            <a:r>
              <a:rPr sz="1800" b="0">
                <a:solidFill>
                  <a:srgbClr val="0B0B0B"/>
                </a:solidFill>
                <a:latin typeface="Segoe UI"/>
              </a:rPr>
              <a:t>• Vietnam: about 90% prepaid; rebuild the model on our own data</a:t>
            </a:r>
          </a:p>
          <a:p>
            <a:pPr>
              <a:spcAft>
                <a:spcPts val="800"/>
              </a:spcAft>
            </a:pPr>
            <a:r>
              <a:rPr sz="1800" b="0">
                <a:solidFill>
                  <a:srgbClr val="0B0B0B"/>
                </a:solidFill>
                <a:latin typeface="Segoe UI"/>
              </a:rPr>
              <a:t>• Compliance: consent, Do-Not-Call, calls 08:00-17:00, one call per 24 hours, DPIA</a:t>
            </a:r>
          </a:p>
        </p:txBody>
      </p:sp>
      <p:sp>
        <p:nvSpPr>
          <p:cNvPr id="5" name="TextBox 4"/>
          <p:cNvSpPr txBox="1"/>
          <p:nvPr/>
        </p:nvSpPr>
        <p:spPr>
          <a:xfrm>
            <a:off x="502920" y="6446520"/>
            <a:ext cx="11155680" cy="320040"/>
          </a:xfrm>
          <a:prstGeom prst="rect">
            <a:avLst/>
          </a:prstGeom>
          <a:noFill/>
        </p:spPr>
        <p:txBody>
          <a:bodyPr wrap="none">
            <a:spAutoFit/>
          </a:bodyPr>
          <a:lstStyle/>
          <a:p>
            <a:r>
              <a:rPr sz="1000" b="0">
                <a:solidFill>
                  <a:srgbClr val="898781"/>
                </a:solidFill>
                <a:latin typeface="Segoe UI"/>
              </a:rPr>
              <a:t>Retention Lab | Profit-aware churn &amp; retention targeting | 11/13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55680" cy="822960"/>
          </a:xfrm>
          <a:prstGeom prst="rect">
            <a:avLst/>
          </a:prstGeom>
          <a:noFill/>
        </p:spPr>
        <p:txBody>
          <a:bodyPr wrap="square">
            <a:spAutoFit/>
          </a:bodyPr>
          <a:lstStyle/>
          <a:p>
            <a:r>
              <a:rPr sz="2800" b="1">
                <a:solidFill>
                  <a:srgbClr val="0B0B0B"/>
                </a:solidFill>
                <a:latin typeface="Segoe UI"/>
              </a:rPr>
              <a:t>The pilot measures what we assumed</a:t>
            </a:r>
          </a:p>
        </p:txBody>
      </p:sp>
      <p:sp>
        <p:nvSpPr>
          <p:cNvPr id="4" name="TextBox 3"/>
          <p:cNvSpPr txBox="1"/>
          <p:nvPr/>
        </p:nvSpPr>
        <p:spPr>
          <a:xfrm>
            <a:off x="502920" y="1143000"/>
            <a:ext cx="11155680" cy="4754880"/>
          </a:xfrm>
          <a:prstGeom prst="rect">
            <a:avLst/>
          </a:prstGeom>
          <a:noFill/>
        </p:spPr>
        <p:txBody>
          <a:bodyPr wrap="square">
            <a:spAutoFit/>
          </a:bodyPr>
          <a:lstStyle/>
          <a:p>
            <a:pPr>
              <a:spcAft>
                <a:spcPts val="800"/>
              </a:spcAft>
            </a:pPr>
            <a:r>
              <a:rPr sz="1800" b="0">
                <a:solidFill>
                  <a:srgbClr val="0B0B0B"/>
                </a:solidFill>
                <a:latin typeface="Segoe UI"/>
              </a:rPr>
              <a:t>• One wave: 1,550 customers, 775 offered, 775 held out at random</a:t>
            </a:r>
          </a:p>
          <a:p>
            <a:pPr>
              <a:spcAft>
                <a:spcPts val="800"/>
              </a:spcAft>
            </a:pPr>
            <a:r>
              <a:rPr sz="1800" b="0">
                <a:solidFill>
                  <a:srgbClr val="0B0B0B"/>
                </a:solidFill>
                <a:latin typeface="Segoe UI"/>
              </a:rPr>
              <a:t>• Outcome: churn after 90 days; save rate = 1 - churn(offered) / churn(holdout)</a:t>
            </a:r>
          </a:p>
          <a:p>
            <a:pPr>
              <a:spcAft>
                <a:spcPts val="800"/>
              </a:spcAft>
            </a:pPr>
            <a:r>
              <a:rPr sz="1800" b="0">
                <a:solidFill>
                  <a:srgbClr val="0B0B0B"/>
                </a:solidFill>
                <a:latin typeface="Segoe UI"/>
              </a:rPr>
              <a:t>• Detects a save rate of about 12% or more in one wave; break-even is 13.9%</a:t>
            </a:r>
          </a:p>
          <a:p>
            <a:pPr>
              <a:spcAft>
                <a:spcPts val="800"/>
              </a:spcAft>
            </a:pPr>
            <a:r>
              <a:rPr sz="1800" b="0">
                <a:solidFill>
                  <a:srgbClr val="0B0B0B"/>
                </a:solidFill>
                <a:latin typeface="Segoe UI"/>
              </a:rPr>
              <a:t>• Offer and contact cost about $21,125</a:t>
            </a:r>
          </a:p>
        </p:txBody>
      </p:sp>
      <p:sp>
        <p:nvSpPr>
          <p:cNvPr id="5" name="TextBox 4"/>
          <p:cNvSpPr txBox="1"/>
          <p:nvPr/>
        </p:nvSpPr>
        <p:spPr>
          <a:xfrm>
            <a:off x="502920" y="6446520"/>
            <a:ext cx="11155680" cy="320040"/>
          </a:xfrm>
          <a:prstGeom prst="rect">
            <a:avLst/>
          </a:prstGeom>
          <a:noFill/>
        </p:spPr>
        <p:txBody>
          <a:bodyPr wrap="none">
            <a:spAutoFit/>
          </a:bodyPr>
          <a:lstStyle/>
          <a:p>
            <a:r>
              <a:rPr sz="1000" b="0">
                <a:solidFill>
                  <a:srgbClr val="898781"/>
                </a:solidFill>
                <a:latin typeface="Segoe UI"/>
              </a:rPr>
              <a:t>Retention Lab | Profit-aware churn &amp; retention targeting | 12/13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55680" cy="822960"/>
          </a:xfrm>
          <a:prstGeom prst="rect">
            <a:avLst/>
          </a:prstGeom>
          <a:noFill/>
        </p:spPr>
        <p:txBody>
          <a:bodyPr wrap="square">
            <a:spAutoFit/>
          </a:bodyPr>
          <a:lstStyle/>
          <a:p>
            <a:r>
              <a:rPr sz="2800" b="1">
                <a:solidFill>
                  <a:srgbClr val="0B0B0B"/>
                </a:solidFill>
                <a:latin typeface="Segoe UI"/>
              </a:rPr>
              <a:t>Decisions requested</a:t>
            </a:r>
          </a:p>
        </p:txBody>
      </p:sp>
      <p:sp>
        <p:nvSpPr>
          <p:cNvPr id="4" name="TextBox 3"/>
          <p:cNvSpPr txBox="1"/>
          <p:nvPr/>
        </p:nvSpPr>
        <p:spPr>
          <a:xfrm>
            <a:off x="502920" y="1143000"/>
            <a:ext cx="11155680" cy="4754880"/>
          </a:xfrm>
          <a:prstGeom prst="rect">
            <a:avLst/>
          </a:prstGeom>
          <a:noFill/>
        </p:spPr>
        <p:txBody>
          <a:bodyPr wrap="square">
            <a:spAutoFit/>
          </a:bodyPr>
          <a:lstStyle/>
          <a:p>
            <a:pPr>
              <a:spcAft>
                <a:spcPts val="800"/>
              </a:spcAft>
            </a:pPr>
            <a:r>
              <a:rPr sz="1800" b="0">
                <a:solidFill>
                  <a:srgbClr val="0B0B0B"/>
                </a:solidFill>
                <a:latin typeface="Segoe UI"/>
              </a:rPr>
              <a:t>• Approve one pilot wave: 1,550 customers, half held out, about $21,125</a:t>
            </a:r>
          </a:p>
          <a:p>
            <a:pPr>
              <a:spcAft>
                <a:spcPts val="800"/>
              </a:spcAft>
            </a:pPr>
            <a:r>
              <a:rPr sz="1800" b="0">
                <a:solidFill>
                  <a:srgbClr val="0B0B0B"/>
                </a:solidFill>
                <a:latin typeface="Segoe UI"/>
              </a:rPr>
              <a:t>• Name owners: Retention, Call centre, Finance, Legal/DPO</a:t>
            </a:r>
          </a:p>
          <a:p>
            <a:pPr>
              <a:spcAft>
                <a:spcPts val="800"/>
              </a:spcAft>
            </a:pPr>
            <a:r>
              <a:rPr sz="1800" b="0">
                <a:solidFill>
                  <a:srgbClr val="0B0B0B"/>
                </a:solidFill>
                <a:latin typeface="Segoe UI"/>
              </a:rPr>
              <a:t>• Agree the rule now: go if the effect is significant and at least 13.9%; else stop or extend</a:t>
            </a:r>
          </a:p>
          <a:p>
            <a:pPr>
              <a:spcAft>
                <a:spcPts val="800"/>
              </a:spcAft>
            </a:pPr>
            <a:r>
              <a:rPr sz="1800" b="0">
                <a:solidFill>
                  <a:srgbClr val="0B0B0B"/>
                </a:solidFill>
                <a:latin typeface="Segoe UI"/>
              </a:rPr>
              <a:t>• Live demo: dashboard - KPIs, action list, scenarios</a:t>
            </a:r>
          </a:p>
        </p:txBody>
      </p:sp>
      <p:sp>
        <p:nvSpPr>
          <p:cNvPr id="5" name="TextBox 4"/>
          <p:cNvSpPr txBox="1"/>
          <p:nvPr/>
        </p:nvSpPr>
        <p:spPr>
          <a:xfrm>
            <a:off x="502920" y="6446520"/>
            <a:ext cx="11155680" cy="320040"/>
          </a:xfrm>
          <a:prstGeom prst="rect">
            <a:avLst/>
          </a:prstGeom>
          <a:noFill/>
        </p:spPr>
        <p:txBody>
          <a:bodyPr wrap="none">
            <a:spAutoFit/>
          </a:bodyPr>
          <a:lstStyle/>
          <a:p>
            <a:r>
              <a:rPr sz="1000" b="0">
                <a:solidFill>
                  <a:srgbClr val="898781"/>
                </a:solidFill>
                <a:latin typeface="Segoe UI"/>
              </a:rPr>
              <a:t>Retention Lab | Profit-aware churn &amp; retention targeting | 13/13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