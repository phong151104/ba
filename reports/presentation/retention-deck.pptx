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decision and the answer. The data are IBM's fictional US telco sample; every dollar figure belongs to that company. Agenda: summary, the problem in money, the model, the rule, who we target, value, budget, downside, outside the sample, fairness, the pilot, the ask, then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management remembers one slide, it is this one. The targeting gain holds in 100% of assumption draws; the save rate is the open question, which is why the ask is a pilot and not a roll-out.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$468,468 is twelve months of expected margin lost to churn across 7,043 customers ($93,720 on the 1,409 test customers). The question is not who will leave but where an offer pays back. Our KPIs: expected net value, ROI, customers contacted, precision among contacted and coverage of high-risk, high-value customers.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Calibration matters because we multiply probabilities by money. All three model families rank about equally, so the simpler and interpretable model wins; its odds ratios also become a points card for the call centre. Every choice was made on validation; the test customers were used once, for reporting.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a customer paying 70 dollars a month is worth about $239 over a year of margin; at 60% risk the standard offer is worth $3.73 net. The save rate is the share of would-be leavers an offer keeps; we assume 20%, below the 30% common in the literature.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campaign rides on one segment's response, so the pilot should report results for fibre and monthly-contract customers separately. Offers: $35 credit for moving to a 1-year contract for 150, 6 months free techsupport + onlinesecurity for 150, one-time $20 bill credit for 24.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customers, budget and assumptions. Precision is the share of contacted customers who actually left; risk-only is more precise but spends on customers who are not worth an offer. Valued with what these customers actually did, the gain is $1,077 (95% interval $229 to $2,002); the offer-matching part is not proven, so the pilot tests offers too.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x-axis is the budget expressed as the share of customers the standard offer could reach. The recommended budget is about 2.6 times today's; it is only worth committing once the pilot confirms the save rate.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5,000 draws, every register assumption at once. Value horizon (months) and save rate of the standard offer drive most of the spread. If offers only reach churners who left for price or a competitor, a 20% save rate means keeping 43% of them: ambitious. Below 8.5% nobody is worth contacting.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Probabilities were shifted to lower average churn with the ranking unchanged. The Vietnam-like rows use a 250,000 VND home-fibre bill and an SMS of 500 VND. In Vietnam most mobile customers are prepaid, so the model must be rebuilt; see the deployment note.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offer is a benefit (a discount) and a burden (a call). The new rule widens the senior gap compared with today's, partly because seniors pay more; the pilot reports seniors separately and Legal/DPO reviews each wave. Loyal low-risk customers rarely get offers, so watch for loyalty-penalty complaints.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Randomising inside the target list gives the causal effect the data cannot. The price of learning is the value forgone on the held-out half, about $10,363. Measured save rates replace the assumptions and the whole analysis re-runs.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ask. If the true save rate is 20%, the rule says go after one wave 95% of the time. The significance test protects against acting on noise; the break-even test protects the budget.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demo script: show the default view, change the budget, open the action list and explain one customer, export the campaign file, then lower the save rate on the assumptions page and show when not running the campaign is the right decision.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3600" b="1">
                <a:solidFill>
                  <a:srgbClr val="0B0B0B"/>
                </a:solidFill>
                <a:latin typeface="Segoe UI"/>
              </a:rPr>
              <a:t>Spend the retention budget where it returns the most</a:t>
            </a:r>
          </a:p>
        </p:txBody>
      </p:sp>
      <p:sp>
        <p:nvSpPr>
          <p:cNvPr id="4" name="TextBox 3"/>
          <p:cNvSpPr txBox="1"/>
          <p:nvPr/>
        </p:nvSpPr>
        <p:spPr>
          <a:xfrm>
            <a:off x="502920" y="1051560"/>
            <a:ext cx="11155680" cy="548640"/>
          </a:xfrm>
          <a:prstGeom prst="rect">
            <a:avLst/>
          </a:prstGeom>
          <a:noFill/>
        </p:spPr>
        <p:txBody>
          <a:bodyPr wrap="square">
            <a:spAutoFit/>
          </a:bodyPr>
          <a:lstStyle/>
          <a:p>
            <a:r>
              <a:rPr sz="1600" b="0">
                <a:solidFill>
                  <a:srgbClr val="52514E"/>
                </a:solidFill>
                <a:latin typeface="Segoe UI"/>
              </a:rPr>
              <a:t>Profit-aware churn and retention targeting - Business Analytics capstone, Topic 7</a:t>
            </a:r>
          </a:p>
        </p:txBody>
      </p:sp>
      <p:sp>
        <p:nvSpPr>
          <p:cNvPr id="5" name="TextBox 4"/>
          <p:cNvSpPr txBox="1"/>
          <p:nvPr/>
        </p:nvSpPr>
        <p:spPr>
          <a:xfrm>
            <a:off x="502920" y="1645920"/>
            <a:ext cx="11155680" cy="4754880"/>
          </a:xfrm>
          <a:prstGeom prst="rect">
            <a:avLst/>
          </a:prstGeom>
          <a:noFill/>
        </p:spPr>
        <p:txBody>
          <a:bodyPr wrap="square">
            <a:spAutoFit/>
          </a:bodyPr>
          <a:lstStyle/>
          <a:p>
            <a:pPr>
              <a:spcAft>
                <a:spcPts val="800"/>
              </a:spcAft>
            </a:pPr>
            <a:r>
              <a:rPr sz="1800" b="0">
                <a:solidFill>
                  <a:srgbClr val="0B0B0B"/>
                </a:solidFill>
                <a:latin typeface="Segoe UI"/>
              </a:rPr>
              <a:t>• Decision: which customers get a retention offer, which offer, and how much to spend</a:t>
            </a:r>
          </a:p>
          <a:p>
            <a:pPr>
              <a:spcAft>
                <a:spcPts val="800"/>
              </a:spcAft>
            </a:pPr>
            <a:r>
              <a:rPr sz="1800" b="0">
                <a:solidFill>
                  <a:srgbClr val="0B0B0B"/>
                </a:solidFill>
                <a:latin typeface="Segoe UI"/>
              </a:rPr>
              <a:t>• Answer: rank by expected value, not by churn risk alone, and prove the save rate in a pilot</a:t>
            </a:r>
          </a:p>
          <a:p>
            <a:pPr>
              <a:spcAft>
                <a:spcPts val="800"/>
              </a:spcAft>
            </a:pPr>
            <a:r>
              <a:rPr sz="1800" b="0">
                <a:solidFill>
                  <a:srgbClr val="0B0B0B"/>
                </a:solidFill>
                <a:latin typeface="Segoe UI"/>
              </a:rPr>
              <a:t>• Ask: approve one randomised pilot wave of 1,620 customers</a:t>
            </a:r>
          </a:p>
        </p:txBody>
      </p:sp>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1/14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Target by expected value, then prove the save rate</a:t>
            </a:r>
          </a:p>
        </p:txBody>
      </p:sp>
      <p:sp>
        <p:nvSpPr>
          <p:cNvPr id="4" name="TextBox 3"/>
          <p:cNvSpPr txBox="1"/>
          <p:nvPr/>
        </p:nvSpPr>
        <p:spPr>
          <a:xfrm>
            <a:off x="502920" y="1051560"/>
            <a:ext cx="11155680" cy="548640"/>
          </a:xfrm>
          <a:prstGeom prst="rect">
            <a:avLst/>
          </a:prstGeom>
          <a:noFill/>
        </p:spPr>
        <p:txBody>
          <a:bodyPr wrap="square">
            <a:spAutoFit/>
          </a:bodyPr>
          <a:lstStyle/>
          <a:p>
            <a:r>
              <a:rPr sz="1600" b="0">
                <a:solidFill>
                  <a:srgbClr val="52514E"/>
                </a:solidFill>
                <a:latin typeface="Segoe UI"/>
              </a:rPr>
              <a:t>Executive summary</a:t>
            </a:r>
          </a:p>
        </p:txBody>
      </p:sp>
      <p:sp>
        <p:nvSpPr>
          <p:cNvPr id="5" name="TextBox 4"/>
          <p:cNvSpPr txBox="1"/>
          <p:nvPr/>
        </p:nvSpPr>
        <p:spPr>
          <a:xfrm>
            <a:off x="502920" y="1645920"/>
            <a:ext cx="11155680" cy="4754880"/>
          </a:xfrm>
          <a:prstGeom prst="rect">
            <a:avLst/>
          </a:prstGeom>
          <a:noFill/>
        </p:spPr>
        <p:txBody>
          <a:bodyPr wrap="square">
            <a:spAutoFit/>
          </a:bodyPr>
          <a:lstStyle/>
          <a:p>
            <a:pPr>
              <a:spcAft>
                <a:spcPts val="800"/>
              </a:spcAft>
            </a:pPr>
            <a:r>
              <a:rPr sz="1800" b="0">
                <a:solidFill>
                  <a:srgbClr val="0B0B0B"/>
                </a:solidFill>
                <a:latin typeface="Segoe UI"/>
              </a:rPr>
              <a:t>• Same $3,500 budget: +$1,368 expected versus calling the riskiest customers</a:t>
            </a:r>
          </a:p>
          <a:p>
            <a:pPr>
              <a:spcAft>
                <a:spcPts val="800"/>
              </a:spcAft>
            </a:pPr>
            <a:r>
              <a:rPr sz="1800" b="0">
                <a:solidFill>
                  <a:srgbClr val="0B0B0B"/>
                </a:solidFill>
                <a:latin typeface="Segoe UI"/>
              </a:rPr>
              <a:t>• Who: fibre customers on monthly contracts with high bills; not low-risk or low-bill customers</a:t>
            </a:r>
          </a:p>
          <a:p>
            <a:pPr>
              <a:spcAft>
                <a:spcPts val="800"/>
              </a:spcAft>
            </a:pPr>
            <a:r>
              <a:rPr sz="1800" b="0">
                <a:solidFill>
                  <a:srgbClr val="0B0B0B"/>
                </a:solidFill>
                <a:latin typeface="Segoe UI"/>
              </a:rPr>
              <a:t>• Budget: about $45,737 for the base; stop where the next step returns under 10%</a:t>
            </a:r>
          </a:p>
          <a:p>
            <a:pPr>
              <a:spcAft>
                <a:spcPts val="800"/>
              </a:spcAft>
            </a:pPr>
            <a:r>
              <a:rPr sz="1800" b="0">
                <a:solidFill>
                  <a:srgbClr val="0B0B0B"/>
                </a:solidFill>
                <a:latin typeface="Segoe UI"/>
              </a:rPr>
              <a:t>• Who to target is robust; how much an offer saves (20% assumed) is not</a:t>
            </a:r>
          </a:p>
          <a:p>
            <a:pPr>
              <a:spcAft>
                <a:spcPts val="800"/>
              </a:spcAft>
            </a:pPr>
            <a:r>
              <a:rPr sz="1800" b="0">
                <a:solidFill>
                  <a:srgbClr val="0B0B0B"/>
                </a:solidFill>
                <a:latin typeface="Segoe UI"/>
              </a:rPr>
              <a:t>• Ask: one pilot wave, half held out, about $22,875 of offers and contacts</a:t>
            </a:r>
          </a:p>
        </p:txBody>
      </p:sp>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2/14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Churn puts $468,468 of margin at risk</a:t>
            </a:r>
          </a:p>
        </p:txBody>
      </p:sp>
      <p:sp>
        <p:nvSpPr>
          <p:cNvPr id="4" name="TextBox 3"/>
          <p:cNvSpPr txBox="1"/>
          <p:nvPr/>
        </p:nvSpPr>
        <p:spPr>
          <a:xfrm>
            <a:off x="502920" y="1051560"/>
            <a:ext cx="11155680" cy="548640"/>
          </a:xfrm>
          <a:prstGeom prst="rect">
            <a:avLst/>
          </a:prstGeom>
          <a:noFill/>
        </p:spPr>
        <p:txBody>
          <a:bodyPr wrap="square">
            <a:spAutoFit/>
          </a:bodyPr>
          <a:lstStyle/>
          <a:p>
            <a:r>
              <a:rPr sz="1600" b="0">
                <a:solidFill>
                  <a:srgbClr val="52514E"/>
                </a:solidFill>
                <a:latin typeface="Segoe UI"/>
              </a:rPr>
              <a:t>Today's rule calls the riskiest customers, whatever they are worth</a:t>
            </a:r>
          </a:p>
        </p:txBody>
      </p:sp>
      <p:sp>
        <p:nvSpPr>
          <p:cNvPr id="5" name="TextBox 4"/>
          <p:cNvSpPr txBox="1"/>
          <p:nvPr/>
        </p:nvSpPr>
        <p:spPr>
          <a:xfrm>
            <a:off x="502920" y="1645920"/>
            <a:ext cx="4572000" cy="4754880"/>
          </a:xfrm>
          <a:prstGeom prst="rect">
            <a:avLst/>
          </a:prstGeom>
          <a:noFill/>
        </p:spPr>
        <p:txBody>
          <a:bodyPr wrap="square">
            <a:spAutoFit/>
          </a:bodyPr>
          <a:lstStyle/>
          <a:p>
            <a:pPr>
              <a:spcAft>
                <a:spcPts val="800"/>
              </a:spcAft>
            </a:pPr>
            <a:r>
              <a:rPr sz="1500" b="0">
                <a:solidFill>
                  <a:srgbClr val="0B0B0B"/>
                </a:solidFill>
                <a:latin typeface="Segoe UI"/>
              </a:rPr>
              <a:t>• 26.5% of customers churn; monthly-contract, new, fibre and e-cheque customers most</a:t>
            </a:r>
          </a:p>
          <a:p>
            <a:pPr>
              <a:spcAft>
                <a:spcPts val="800"/>
              </a:spcAft>
            </a:pPr>
            <a:r>
              <a:rPr sz="1500" b="0">
                <a:solidFill>
                  <a:srgbClr val="0B0B0B"/>
                </a:solidFill>
                <a:latin typeface="Segoe UI"/>
              </a:rPr>
              <a:t>• The budget covers an offer for 10% of customers</a:t>
            </a:r>
          </a:p>
          <a:p>
            <a:pPr>
              <a:spcAft>
                <a:spcPts val="800"/>
              </a:spcAft>
            </a:pPr>
            <a:r>
              <a:rPr sz="1500" b="0">
                <a:solidFill>
                  <a:srgbClr val="0B0B0B"/>
                </a:solidFill>
                <a:latin typeface="Segoe UI"/>
              </a:rPr>
              <a:t>• Every offer costs money, even when the customer would have stayed</a:t>
            </a:r>
          </a:p>
          <a:p>
            <a:pPr>
              <a:spcAft>
                <a:spcPts val="800"/>
              </a:spcAft>
            </a:pPr>
            <a:r>
              <a:rPr sz="1500" b="0">
                <a:solidFill>
                  <a:srgbClr val="0B0B0B"/>
                </a:solidFill>
                <a:latin typeface="Segoe UI"/>
              </a:rPr>
              <a:t>• Owner: Head of Retention; Finance approves budget; Legal/DPO approves contact</a:t>
            </a:r>
          </a:p>
        </p:txBody>
      </p:sp>
      <p:pic>
        <p:nvPicPr>
          <p:cNvPr id="6" name="Picture 5" descr="eda_drivers.png"/>
          <p:cNvPicPr>
            <a:picLocks noChangeAspect="1"/>
          </p:cNvPicPr>
          <p:nvPr/>
        </p:nvPicPr>
        <p:blipFill>
          <a:blip r:embed="rId2"/>
          <a:stretch>
            <a:fillRect/>
          </a:stretch>
        </p:blipFill>
        <p:spPr>
          <a:xfrm>
            <a:off x="5303520" y="1645920"/>
            <a:ext cx="6583680" cy="3890356"/>
          </a:xfrm>
          <a:prstGeom prst="rect">
            <a:avLst/>
          </a:prstGeom>
        </p:spPr>
      </p:pic>
      <p:sp>
        <p:nvSpPr>
          <p:cNvPr id="7" name="TextBox 6"/>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3/14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The model ranks churners well and is checked in money</a:t>
            </a:r>
          </a:p>
        </p:txBody>
      </p:sp>
      <p:sp>
        <p:nvSpPr>
          <p:cNvPr id="4" name="TextBox 3"/>
          <p:cNvSpPr txBox="1"/>
          <p:nvPr/>
        </p:nvSpPr>
        <p:spPr>
          <a:xfrm>
            <a:off x="502920" y="1143000"/>
            <a:ext cx="4572000" cy="4754880"/>
          </a:xfrm>
          <a:prstGeom prst="rect">
            <a:avLst/>
          </a:prstGeom>
          <a:noFill/>
        </p:spPr>
        <p:txBody>
          <a:bodyPr wrap="square">
            <a:spAutoFit/>
          </a:bodyPr>
          <a:lstStyle/>
          <a:p>
            <a:pPr>
              <a:spcAft>
                <a:spcPts val="800"/>
              </a:spcAft>
            </a:pPr>
            <a:r>
              <a:rPr sz="1500" b="0">
                <a:solidFill>
                  <a:srgbClr val="0B0B0B"/>
                </a:solidFill>
                <a:latin typeface="Segoe UI"/>
              </a:rPr>
              <a:t>• Logistic regression, chosen over random forest and XGBoost by a rule fixed in advance</a:t>
            </a:r>
          </a:p>
          <a:p>
            <a:pPr>
              <a:spcAft>
                <a:spcPts val="800"/>
              </a:spcAft>
            </a:pPr>
            <a:r>
              <a:rPr sz="1500" b="0">
                <a:solidFill>
                  <a:srgbClr val="0B0B0B"/>
                </a:solidFill>
                <a:latin typeface="Segoe UI"/>
              </a:rPr>
              <a:t>• Finds churners: ROC-AUC 0.83; PR-AUC 0.62 vs 0.27 by chance</a:t>
            </a:r>
          </a:p>
          <a:p>
            <a:pPr>
              <a:spcAft>
                <a:spcPts val="800"/>
              </a:spcAft>
            </a:pPr>
            <a:r>
              <a:rPr sz="1500" b="0">
                <a:solidFill>
                  <a:srgbClr val="0B0B0B"/>
                </a:solidFill>
                <a:latin typeface="Segoe UI"/>
              </a:rPr>
              <a:t>• Probabilities within 1.9 points of observed churn</a:t>
            </a:r>
          </a:p>
          <a:p>
            <a:pPr>
              <a:spcAft>
                <a:spcPts val="800"/>
              </a:spcAft>
            </a:pPr>
            <a:r>
              <a:rPr sz="1500" b="0">
                <a:solidFill>
                  <a:srgbClr val="0B0B0B"/>
                </a:solidFill>
                <a:latin typeface="Segoe UI"/>
              </a:rPr>
              <a:t>• In money the three models are within $194 on validation</a:t>
            </a:r>
          </a:p>
          <a:p>
            <a:pPr>
              <a:spcAft>
                <a:spcPts val="800"/>
              </a:spcAft>
            </a:pPr>
            <a:r>
              <a:rPr sz="1500" b="0">
                <a:solidFill>
                  <a:srgbClr val="0B0B0B"/>
                </a:solidFill>
                <a:latin typeface="Segoe UI"/>
              </a:rPr>
              <a:t>• It predicts who leaves, not who an offer would keep</a:t>
            </a:r>
          </a:p>
        </p:txBody>
      </p:sp>
      <p:pic>
        <p:nvPicPr>
          <p:cNvPr id="5" name="Picture 4" descr="calibration.png"/>
          <p:cNvPicPr>
            <a:picLocks noChangeAspect="1"/>
          </p:cNvPicPr>
          <p:nvPr/>
        </p:nvPicPr>
        <p:blipFill>
          <a:blip r:embed="rId2"/>
          <a:stretch>
            <a:fillRect/>
          </a:stretch>
        </p:blipFill>
        <p:spPr>
          <a:xfrm>
            <a:off x="5303520" y="1143000"/>
            <a:ext cx="6583680" cy="5266944"/>
          </a:xfrm>
          <a:prstGeom prst="rect">
            <a:avLst/>
          </a:prstGeom>
        </p:spPr>
      </p:pic>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4/14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Offer only where expected value beats the cost</a:t>
            </a:r>
          </a:p>
        </p:txBody>
      </p:sp>
      <p:sp>
        <p:nvSpPr>
          <p:cNvPr id="4" name="TextBox 3"/>
          <p:cNvSpPr txBox="1"/>
          <p:nvPr/>
        </p:nvSpPr>
        <p:spPr>
          <a:xfrm>
            <a:off x="502920" y="1051560"/>
            <a:ext cx="11155680" cy="548640"/>
          </a:xfrm>
          <a:prstGeom prst="rect">
            <a:avLst/>
          </a:prstGeom>
          <a:noFill/>
        </p:spPr>
        <p:txBody>
          <a:bodyPr wrap="square">
            <a:spAutoFit/>
          </a:bodyPr>
          <a:lstStyle/>
          <a:p>
            <a:r>
              <a:rPr sz="1600" b="0">
                <a:solidFill>
                  <a:srgbClr val="52514E"/>
                </a:solidFill>
                <a:latin typeface="Segoe UI"/>
              </a:rPr>
              <a:t>Expected value = churn probability x save rate x customer value - (offer + contact cost)</a:t>
            </a:r>
          </a:p>
        </p:txBody>
      </p:sp>
      <p:sp>
        <p:nvSpPr>
          <p:cNvPr id="5" name="TextBox 4"/>
          <p:cNvSpPr txBox="1"/>
          <p:nvPr/>
        </p:nvSpPr>
        <p:spPr>
          <a:xfrm>
            <a:off x="502920" y="1645920"/>
            <a:ext cx="11155680" cy="4754880"/>
          </a:xfrm>
          <a:prstGeom prst="rect">
            <a:avLst/>
          </a:prstGeom>
          <a:noFill/>
        </p:spPr>
        <p:txBody>
          <a:bodyPr wrap="square">
            <a:spAutoFit/>
          </a:bodyPr>
          <a:lstStyle/>
          <a:p>
            <a:pPr>
              <a:spcAft>
                <a:spcPts val="800"/>
              </a:spcAft>
            </a:pPr>
            <a:r>
              <a:rPr sz="1800" b="0">
                <a:solidFill>
                  <a:srgbClr val="0B0B0B"/>
                </a:solidFill>
                <a:latin typeface="Segoe UI"/>
              </a:rPr>
              <a:t>• Contact only customers with positive expected value</a:t>
            </a:r>
          </a:p>
          <a:p>
            <a:pPr>
              <a:spcAft>
                <a:spcPts val="800"/>
              </a:spcAft>
            </a:pPr>
            <a:r>
              <a:rPr sz="1800" b="0">
                <a:solidFill>
                  <a:srgbClr val="0B0B0B"/>
                </a:solidFill>
                <a:latin typeface="Segoe UI"/>
              </a:rPr>
              <a:t>• An optimiser picks customers and one offer each within budget, at most 30% contacted</a:t>
            </a:r>
          </a:p>
          <a:p>
            <a:pPr>
              <a:spcAft>
                <a:spcPts val="800"/>
              </a:spcAft>
            </a:pPr>
            <a:r>
              <a:rPr sz="1800" b="0">
                <a:solidFill>
                  <a:srgbClr val="0B0B0B"/>
                </a:solidFill>
                <a:latin typeface="Segoe UI"/>
              </a:rPr>
              <a:t>• Four offers with eligibility rules: bill credit, contract upgrade, service bundle, loyalty reward</a:t>
            </a:r>
          </a:p>
          <a:p>
            <a:pPr>
              <a:spcAft>
                <a:spcPts val="800"/>
              </a:spcAft>
            </a:pPr>
            <a:r>
              <a:rPr sz="1800" b="0">
                <a:solidFill>
                  <a:srgbClr val="0B0B0B"/>
                </a:solidFill>
                <a:latin typeface="Segoe UI"/>
              </a:rPr>
              <a:t>• Every cost and save rate is a visible, sourced assumption</a:t>
            </a:r>
          </a:p>
        </p:txBody>
      </p:sp>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5/14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The list is fibre, month-to-month and high-bill</a:t>
            </a:r>
          </a:p>
        </p:txBody>
      </p:sp>
      <p:sp>
        <p:nvSpPr>
          <p:cNvPr id="4" name="TextBox 3"/>
          <p:cNvSpPr txBox="1"/>
          <p:nvPr/>
        </p:nvSpPr>
        <p:spPr>
          <a:xfrm>
            <a:off x="502920" y="1143000"/>
            <a:ext cx="4572000" cy="4754880"/>
          </a:xfrm>
          <a:prstGeom prst="rect">
            <a:avLst/>
          </a:prstGeom>
          <a:noFill/>
        </p:spPr>
        <p:txBody>
          <a:bodyPr wrap="square">
            <a:spAutoFit/>
          </a:bodyPr>
          <a:lstStyle/>
          <a:p>
            <a:pPr>
              <a:spcAft>
                <a:spcPts val="800"/>
              </a:spcAft>
            </a:pPr>
            <a:r>
              <a:rPr sz="1500" b="0">
                <a:solidFill>
                  <a:srgbClr val="0B0B0B"/>
                </a:solidFill>
                <a:latin typeface="Segoe UI"/>
              </a:rPr>
              <a:t>• 100% fibre and 97% monthly contracts, against 44% and 56% overall</a:t>
            </a:r>
          </a:p>
          <a:p>
            <a:pPr>
              <a:spcAft>
                <a:spcPts val="800"/>
              </a:spcAft>
            </a:pPr>
            <a:r>
              <a:rPr sz="1500" b="0">
                <a:solidFill>
                  <a:srgbClr val="0B0B0B"/>
                </a:solidFill>
                <a:latin typeface="Segoe UI"/>
              </a:rPr>
              <a:t>• Median bill $89 against $70</a:t>
            </a:r>
          </a:p>
          <a:p>
            <a:pPr>
              <a:spcAft>
                <a:spcPts val="800"/>
              </a:spcAft>
            </a:pPr>
            <a:r>
              <a:rPr sz="1500" b="0">
                <a:solidFill>
                  <a:srgbClr val="0B0B0B"/>
                </a:solidFill>
                <a:latin typeface="Segoe UI"/>
              </a:rPr>
              <a:t>• No offer for low-risk customers: most would stay anyway</a:t>
            </a:r>
          </a:p>
          <a:p>
            <a:pPr>
              <a:spcAft>
                <a:spcPts val="800"/>
              </a:spcAft>
            </a:pPr>
            <a:r>
              <a:rPr sz="1500" b="0">
                <a:solidFill>
                  <a:srgbClr val="0B0B0B"/>
                </a:solidFill>
                <a:latin typeface="Segoe UI"/>
              </a:rPr>
              <a:t>• Few offers for risky low-bill customers: their value cannot repay the offer</a:t>
            </a:r>
          </a:p>
        </p:txBody>
      </p:sp>
      <p:pic>
        <p:nvPicPr>
          <p:cNvPr id="5" name="Picture 4" descr="target_profile.png"/>
          <p:cNvPicPr>
            <a:picLocks noChangeAspect="1"/>
          </p:cNvPicPr>
          <p:nvPr/>
        </p:nvPicPr>
        <p:blipFill>
          <a:blip r:embed="rId2"/>
          <a:stretch>
            <a:fillRect/>
          </a:stretch>
        </p:blipFill>
        <p:spPr>
          <a:xfrm>
            <a:off x="5303520" y="1143000"/>
            <a:ext cx="6583680" cy="3218688"/>
          </a:xfrm>
          <a:prstGeom prst="rect">
            <a:avLst/>
          </a:prstGeom>
        </p:spPr>
      </p:pic>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6/14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Same budget, more value</a:t>
            </a:r>
          </a:p>
        </p:txBody>
      </p:sp>
      <p:sp>
        <p:nvSpPr>
          <p:cNvPr id="4" name="TextBox 3"/>
          <p:cNvSpPr txBox="1"/>
          <p:nvPr/>
        </p:nvSpPr>
        <p:spPr>
          <a:xfrm>
            <a:off x="502920" y="1143000"/>
            <a:ext cx="11155680" cy="4754880"/>
          </a:xfrm>
          <a:prstGeom prst="rect">
            <a:avLst/>
          </a:prstGeom>
          <a:noFill/>
        </p:spPr>
        <p:txBody>
          <a:bodyPr wrap="square">
            <a:spAutoFit/>
          </a:bodyPr>
          <a:lstStyle/>
          <a:p>
            <a:pPr>
              <a:spcAft>
                <a:spcPts val="800"/>
              </a:spcAft>
            </a:pPr>
            <a:r>
              <a:rPr sz="1800" b="0">
                <a:solidFill>
                  <a:srgbClr val="0B0B0B"/>
                </a:solidFill>
                <a:latin typeface="Segoe UI"/>
              </a:rPr>
              <a:t>• +$1,368 expected: $1,039 from who we target, $328 from which offer</a:t>
            </a:r>
          </a:p>
        </p:txBody>
      </p:sp>
      <p:graphicFrame>
        <p:nvGraphicFramePr>
          <p:cNvPr id="5" name="Table 4"/>
          <p:cNvGraphicFramePr>
            <a:graphicFrameLocks noGrp="1"/>
          </p:cNvGraphicFramePr>
          <p:nvPr/>
        </p:nvGraphicFramePr>
        <p:xfrm>
          <a:off x="502920" y="1581912"/>
          <a:ext cx="11155680" cy="1536192"/>
        </p:xfrm>
        <a:graphic>
          <a:graphicData uri="http://schemas.openxmlformats.org/drawingml/2006/table">
            <a:tbl>
              <a:tblPr firstRow="1" bandRow="1">
                <a:tableStyleId>{5C22544A-7EE6-4342-B048-85BDC9FD1C3A}</a:tableStyleId>
              </a:tblPr>
              <a:tblGrid>
                <a:gridCol w="1859280"/>
                <a:gridCol w="1859280"/>
                <a:gridCol w="1859280"/>
                <a:gridCol w="1859280"/>
                <a:gridCol w="1859280"/>
                <a:gridCol w="1859280"/>
              </a:tblGrid>
              <a:tr h="384048">
                <a:tc>
                  <a:txBody>
                    <a:bodyPr/>
                    <a:lstStyle/>
                    <a:p>
                      <a:r>
                        <a:rPr sz="1200" b="1">
                          <a:solidFill>
                            <a:srgbClr val="FFFFFF"/>
                          </a:solidFill>
                          <a:latin typeface="Segoe UI"/>
                        </a:rPr>
                        <a:t>Rule</a:t>
                      </a:r>
                    </a:p>
                  </a:txBody>
                  <a:tcPr/>
                </a:tc>
                <a:tc>
                  <a:txBody>
                    <a:bodyPr/>
                    <a:lstStyle/>
                    <a:p>
                      <a:r>
                        <a:rPr sz="1200" b="1">
                          <a:solidFill>
                            <a:srgbClr val="FFFFFF"/>
                          </a:solidFill>
                          <a:latin typeface="Segoe UI"/>
                        </a:rPr>
                        <a:t>Customers</a:t>
                      </a:r>
                    </a:p>
                  </a:txBody>
                  <a:tcPr/>
                </a:tc>
                <a:tc>
                  <a:txBody>
                    <a:bodyPr/>
                    <a:lstStyle/>
                    <a:p>
                      <a:r>
                        <a:rPr sz="1200" b="1">
                          <a:solidFill>
                            <a:srgbClr val="FFFFFF"/>
                          </a:solidFill>
                          <a:latin typeface="Segoe UI"/>
                        </a:rPr>
                        <a:t>Net value</a:t>
                      </a:r>
                    </a:p>
                  </a:txBody>
                  <a:tcPr/>
                </a:tc>
                <a:tc>
                  <a:txBody>
                    <a:bodyPr/>
                    <a:lstStyle/>
                    <a:p>
                      <a:r>
                        <a:rPr sz="1200" b="1">
                          <a:solidFill>
                            <a:srgbClr val="FFFFFF"/>
                          </a:solidFill>
                          <a:latin typeface="Segoe UI"/>
                        </a:rPr>
                        <a:t>ROI</a:t>
                      </a:r>
                    </a:p>
                  </a:txBody>
                  <a:tcPr/>
                </a:tc>
                <a:tc>
                  <a:txBody>
                    <a:bodyPr/>
                    <a:lstStyle/>
                    <a:p>
                      <a:r>
                        <a:rPr sz="1200" b="1">
                          <a:solidFill>
                            <a:srgbClr val="FFFFFF"/>
                          </a:solidFill>
                          <a:latin typeface="Segoe UI"/>
                        </a:rPr>
                        <a:t>Precision</a:t>
                      </a:r>
                    </a:p>
                  </a:txBody>
                  <a:tcPr/>
                </a:tc>
                <a:tc>
                  <a:txBody>
                    <a:bodyPr/>
                    <a:lstStyle/>
                    <a:p>
                      <a:r>
                        <a:rPr sz="1200" b="1">
                          <a:solidFill>
                            <a:srgbClr val="FFFFFF"/>
                          </a:solidFill>
                          <a:latin typeface="Segoe UI"/>
                        </a:rPr>
                        <a:t>HR/HV coverage</a:t>
                      </a:r>
                    </a:p>
                  </a:txBody>
                  <a:tcPr/>
                </a:tc>
              </a:tr>
              <a:tr h="384048">
                <a:tc>
                  <a:txBody>
                    <a:bodyPr/>
                    <a:lstStyle/>
                    <a:p>
                      <a:r>
                        <a:rPr sz="1200" b="0">
                          <a:solidFill>
                            <a:srgbClr val="0B0B0B"/>
                          </a:solidFill>
                          <a:latin typeface="Segoe UI"/>
                        </a:rPr>
                        <a:t>Highest churn risk (today)</a:t>
                      </a:r>
                    </a:p>
                  </a:txBody>
                  <a:tcPr/>
                </a:tc>
                <a:tc>
                  <a:txBody>
                    <a:bodyPr/>
                    <a:lstStyle/>
                    <a:p>
                      <a:r>
                        <a:rPr sz="1200" b="0">
                          <a:solidFill>
                            <a:srgbClr val="0B0B0B"/>
                          </a:solidFill>
                          <a:latin typeface="Segoe UI"/>
                        </a:rPr>
                        <a:t>140</a:t>
                      </a:r>
                    </a:p>
                  </a:txBody>
                  <a:tcPr/>
                </a:tc>
                <a:tc>
                  <a:txBody>
                    <a:bodyPr/>
                    <a:lstStyle/>
                    <a:p>
                      <a:r>
                        <a:rPr sz="1200" b="0">
                          <a:solidFill>
                            <a:srgbClr val="0B0B0B"/>
                          </a:solidFill>
                          <a:latin typeface="Segoe UI"/>
                        </a:rPr>
                        <a:t>$1,301</a:t>
                      </a:r>
                    </a:p>
                  </a:txBody>
                  <a:tcPr/>
                </a:tc>
                <a:tc>
                  <a:txBody>
                    <a:bodyPr/>
                    <a:lstStyle/>
                    <a:p>
                      <a:r>
                        <a:rPr sz="1200" b="0">
                          <a:solidFill>
                            <a:srgbClr val="0B0B0B"/>
                          </a:solidFill>
                          <a:latin typeface="Segoe UI"/>
                        </a:rPr>
                        <a:t>37%</a:t>
                      </a:r>
                    </a:p>
                  </a:txBody>
                  <a:tcPr/>
                </a:tc>
                <a:tc>
                  <a:txBody>
                    <a:bodyPr/>
                    <a:lstStyle/>
                    <a:p>
                      <a:r>
                        <a:rPr sz="1200" b="0">
                          <a:solidFill>
                            <a:srgbClr val="0B0B0B"/>
                          </a:solidFill>
                          <a:latin typeface="Segoe UI"/>
                        </a:rPr>
                        <a:t>71%</a:t>
                      </a:r>
                    </a:p>
                  </a:txBody>
                  <a:tcPr/>
                </a:tc>
                <a:tc>
                  <a:txBody>
                    <a:bodyPr/>
                    <a:lstStyle/>
                    <a:p>
                      <a:r>
                        <a:rPr sz="1200" b="0">
                          <a:solidFill>
                            <a:srgbClr val="0B0B0B"/>
                          </a:solidFill>
                          <a:latin typeface="Segoe UI"/>
                        </a:rPr>
                        <a:t>12%</a:t>
                      </a:r>
                    </a:p>
                  </a:txBody>
                  <a:tcPr/>
                </a:tc>
              </a:tr>
              <a:tr h="384048">
                <a:tc>
                  <a:txBody>
                    <a:bodyPr/>
                    <a:lstStyle/>
                    <a:p>
                      <a:r>
                        <a:rPr sz="1200" b="0">
                          <a:solidFill>
                            <a:srgbClr val="0B0B0B"/>
                          </a:solidFill>
                          <a:latin typeface="Segoe UI"/>
                        </a:rPr>
                        <a:t>Expected value, one offer</a:t>
                      </a:r>
                    </a:p>
                  </a:txBody>
                  <a:tcPr/>
                </a:tc>
                <a:tc>
                  <a:txBody>
                    <a:bodyPr/>
                    <a:lstStyle/>
                    <a:p>
                      <a:r>
                        <a:rPr sz="1200" b="0">
                          <a:solidFill>
                            <a:srgbClr val="0B0B0B"/>
                          </a:solidFill>
                          <a:latin typeface="Segoe UI"/>
                        </a:rPr>
                        <a:t>140</a:t>
                      </a:r>
                    </a:p>
                  </a:txBody>
                  <a:tcPr/>
                </a:tc>
                <a:tc>
                  <a:txBody>
                    <a:bodyPr/>
                    <a:lstStyle/>
                    <a:p>
                      <a:r>
                        <a:rPr sz="1200" b="0">
                          <a:solidFill>
                            <a:srgbClr val="0B0B0B"/>
                          </a:solidFill>
                          <a:latin typeface="Segoe UI"/>
                        </a:rPr>
                        <a:t>$2,340</a:t>
                      </a:r>
                    </a:p>
                  </a:txBody>
                  <a:tcPr/>
                </a:tc>
                <a:tc>
                  <a:txBody>
                    <a:bodyPr/>
                    <a:lstStyle/>
                    <a:p>
                      <a:r>
                        <a:rPr sz="1200" b="0">
                          <a:solidFill>
                            <a:srgbClr val="0B0B0B"/>
                          </a:solidFill>
                          <a:latin typeface="Segoe UI"/>
                        </a:rPr>
                        <a:t>67%</a:t>
                      </a:r>
                    </a:p>
                  </a:txBody>
                  <a:tcPr/>
                </a:tc>
                <a:tc>
                  <a:txBody>
                    <a:bodyPr/>
                    <a:lstStyle/>
                    <a:p>
                      <a:r>
                        <a:rPr sz="1200" b="0">
                          <a:solidFill>
                            <a:srgbClr val="0B0B0B"/>
                          </a:solidFill>
                          <a:latin typeface="Segoe UI"/>
                        </a:rPr>
                        <a:t>60%</a:t>
                      </a:r>
                    </a:p>
                  </a:txBody>
                  <a:tcPr/>
                </a:tc>
                <a:tc>
                  <a:txBody>
                    <a:bodyPr/>
                    <a:lstStyle/>
                    <a:p>
                      <a:r>
                        <a:rPr sz="1200" b="0">
                          <a:solidFill>
                            <a:srgbClr val="0B0B0B"/>
                          </a:solidFill>
                          <a:latin typeface="Segoe UI"/>
                        </a:rPr>
                        <a:t>96%</a:t>
                      </a:r>
                    </a:p>
                  </a:txBody>
                  <a:tcPr/>
                </a:tc>
              </a:tr>
              <a:tr h="384048">
                <a:tc>
                  <a:txBody>
                    <a:bodyPr/>
                    <a:lstStyle/>
                    <a:p>
                      <a:r>
                        <a:rPr sz="1200" b="0">
                          <a:solidFill>
                            <a:srgbClr val="0B0B0B"/>
                          </a:solidFill>
                          <a:latin typeface="Segoe UI"/>
                        </a:rPr>
                        <a:t>Recommended: + segment offers</a:t>
                      </a:r>
                    </a:p>
                  </a:txBody>
                  <a:tcPr/>
                </a:tc>
                <a:tc>
                  <a:txBody>
                    <a:bodyPr/>
                    <a:lstStyle/>
                    <a:p>
                      <a:r>
                        <a:rPr sz="1200" b="0">
                          <a:solidFill>
                            <a:srgbClr val="0B0B0B"/>
                          </a:solidFill>
                          <a:latin typeface="Segoe UI"/>
                        </a:rPr>
                        <a:t>153</a:t>
                      </a:r>
                    </a:p>
                  </a:txBody>
                  <a:tcPr/>
                </a:tc>
                <a:tc>
                  <a:txBody>
                    <a:bodyPr/>
                    <a:lstStyle/>
                    <a:p>
                      <a:r>
                        <a:rPr sz="1200" b="0">
                          <a:solidFill>
                            <a:srgbClr val="0B0B0B"/>
                          </a:solidFill>
                          <a:latin typeface="Segoe UI"/>
                        </a:rPr>
                        <a:t>$2,668</a:t>
                      </a:r>
                    </a:p>
                  </a:txBody>
                  <a:tcPr/>
                </a:tc>
                <a:tc>
                  <a:txBody>
                    <a:bodyPr/>
                    <a:lstStyle/>
                    <a:p>
                      <a:r>
                        <a:rPr sz="1200" b="0">
                          <a:solidFill>
                            <a:srgbClr val="0B0B0B"/>
                          </a:solidFill>
                          <a:latin typeface="Segoe UI"/>
                        </a:rPr>
                        <a:t>76%</a:t>
                      </a:r>
                    </a:p>
                  </a:txBody>
                  <a:tcPr/>
                </a:tc>
                <a:tc>
                  <a:txBody>
                    <a:bodyPr/>
                    <a:lstStyle/>
                    <a:p>
                      <a:r>
                        <a:rPr sz="1200" b="0">
                          <a:solidFill>
                            <a:srgbClr val="0B0B0B"/>
                          </a:solidFill>
                          <a:latin typeface="Segoe UI"/>
                        </a:rPr>
                        <a:t>60%</a:t>
                      </a:r>
                    </a:p>
                  </a:txBody>
                  <a:tcPr/>
                </a:tc>
                <a:tc>
                  <a:txBody>
                    <a:bodyPr/>
                    <a:lstStyle/>
                    <a:p>
                      <a:r>
                        <a:rPr sz="1200" b="0">
                          <a:solidFill>
                            <a:srgbClr val="0B0B0B"/>
                          </a:solidFill>
                          <a:latin typeface="Segoe UI"/>
                        </a:rPr>
                        <a:t>98%</a:t>
                      </a:r>
                    </a:p>
                  </a:txBody>
                  <a:tcPr/>
                </a:tc>
              </a:tr>
            </a:tbl>
          </a:graphicData>
        </a:graphic>
      </p:graphicFrame>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7/14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Spend about $45,737 - then stop</a:t>
            </a:r>
          </a:p>
        </p:txBody>
      </p:sp>
      <p:sp>
        <p:nvSpPr>
          <p:cNvPr id="4" name="TextBox 3"/>
          <p:cNvSpPr txBox="1"/>
          <p:nvPr/>
        </p:nvSpPr>
        <p:spPr>
          <a:xfrm>
            <a:off x="502920" y="1143000"/>
            <a:ext cx="4572000" cy="4754880"/>
          </a:xfrm>
          <a:prstGeom prst="rect">
            <a:avLst/>
          </a:prstGeom>
          <a:noFill/>
        </p:spPr>
        <p:txBody>
          <a:bodyPr wrap="square">
            <a:spAutoFit/>
          </a:bodyPr>
          <a:lstStyle/>
          <a:p>
            <a:pPr>
              <a:spcAft>
                <a:spcPts val="800"/>
              </a:spcAft>
            </a:pPr>
            <a:r>
              <a:rPr sz="1500" b="0">
                <a:solidFill>
                  <a:srgbClr val="0B0B0B"/>
                </a:solidFill>
                <a:latin typeface="Segoe UI"/>
              </a:rPr>
              <a:t>• Each extra step reaches customers with less expected value</a:t>
            </a:r>
          </a:p>
          <a:p>
            <a:pPr>
              <a:spcAft>
                <a:spcPts val="800"/>
              </a:spcAft>
            </a:pPr>
            <a:r>
              <a:rPr sz="1500" b="0">
                <a:solidFill>
                  <a:srgbClr val="0B0B0B"/>
                </a:solidFill>
                <a:latin typeface="Segoe UI"/>
              </a:rPr>
              <a:t>• Keep steps that return at least 10% (set on validation): $6.49 per customer</a:t>
            </a:r>
          </a:p>
          <a:p>
            <a:pPr>
              <a:spcAft>
                <a:spcPts val="800"/>
              </a:spcAft>
            </a:pPr>
            <a:r>
              <a:rPr sz="1500" b="0">
                <a:solidFill>
                  <a:srgbClr val="0B0B0B"/>
                </a:solidFill>
                <a:latin typeface="Segoe UI"/>
              </a:rPr>
              <a:t>• Test customers: 324 offers, $9,150, net $4,145 (ROI 45%)</a:t>
            </a:r>
          </a:p>
          <a:p>
            <a:pPr>
              <a:spcAft>
                <a:spcPts val="800"/>
              </a:spcAft>
            </a:pPr>
            <a:r>
              <a:rPr sz="1500" b="0">
                <a:solidFill>
                  <a:srgbClr val="0B0B0B"/>
                </a:solidFill>
                <a:latin typeface="Segoe UI"/>
              </a:rPr>
              <a:t>• Beyond 26% of customers nobody is worth an offer</a:t>
            </a:r>
          </a:p>
        </p:txBody>
      </p:sp>
      <p:pic>
        <p:nvPicPr>
          <p:cNvPr id="5" name="Picture 4" descr="profit_curve.png"/>
          <p:cNvPicPr>
            <a:picLocks noChangeAspect="1"/>
          </p:cNvPicPr>
          <p:nvPr/>
        </p:nvPicPr>
        <p:blipFill>
          <a:blip r:embed="rId2"/>
          <a:stretch>
            <a:fillRect/>
          </a:stretch>
        </p:blipFill>
        <p:spPr>
          <a:xfrm>
            <a:off x="5303520" y="1143000"/>
            <a:ext cx="6583680" cy="4989736"/>
          </a:xfrm>
          <a:prstGeom prst="rect">
            <a:avLst/>
          </a:prstGeom>
        </p:spPr>
      </p:pic>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8/14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Who to target is robust; how much an offer saves is not</a:t>
            </a:r>
          </a:p>
        </p:txBody>
      </p:sp>
      <p:sp>
        <p:nvSpPr>
          <p:cNvPr id="4" name="TextBox 3"/>
          <p:cNvSpPr txBox="1"/>
          <p:nvPr/>
        </p:nvSpPr>
        <p:spPr>
          <a:xfrm>
            <a:off x="502920" y="1143000"/>
            <a:ext cx="4572000" cy="4754880"/>
          </a:xfrm>
          <a:prstGeom prst="rect">
            <a:avLst/>
          </a:prstGeom>
          <a:noFill/>
        </p:spPr>
        <p:txBody>
          <a:bodyPr wrap="square">
            <a:spAutoFit/>
          </a:bodyPr>
          <a:lstStyle/>
          <a:p>
            <a:pPr>
              <a:spcAft>
                <a:spcPts val="800"/>
              </a:spcAft>
            </a:pPr>
            <a:r>
              <a:rPr sz="1500" b="0">
                <a:solidFill>
                  <a:srgbClr val="0B0B0B"/>
                </a:solidFill>
                <a:latin typeface="Segoe UI"/>
              </a:rPr>
              <a:t>• Break-even save rate: 11.3% (base list), 13.8% (recommended); assumed 20%</a:t>
            </a:r>
          </a:p>
          <a:p>
            <a:pPr>
              <a:spcAft>
                <a:spcPts val="800"/>
              </a:spcAft>
            </a:pPr>
            <a:r>
              <a:rPr sz="1500" b="0">
                <a:solidFill>
                  <a:srgbClr val="0B0B0B"/>
                </a:solidFill>
                <a:latin typeface="Segoe UI"/>
              </a:rPr>
              <a:t>• All assumptions uncertain: the recommended list loses money in 17% of draws</a:t>
            </a:r>
          </a:p>
          <a:p>
            <a:pPr>
              <a:spcAft>
                <a:spcPts val="800"/>
              </a:spcAft>
            </a:pPr>
            <a:r>
              <a:rPr sz="1500" b="0">
                <a:solidFill>
                  <a:srgbClr val="0B0B0B"/>
                </a:solidFill>
                <a:latin typeface="Segoe UI"/>
              </a:rPr>
              <a:t>• Beats risk-only in 100% of draws</a:t>
            </a:r>
          </a:p>
          <a:p>
            <a:pPr>
              <a:spcAft>
                <a:spcPts val="800"/>
              </a:spcAft>
            </a:pPr>
            <a:r>
              <a:rPr sz="1500" b="0">
                <a:solidFill>
                  <a:srgbClr val="0B0B0B"/>
                </a:solidFill>
                <a:latin typeface="Segoe UI"/>
              </a:rPr>
              <a:t>• Only 46% of churners left for price or a competitor's offer</a:t>
            </a:r>
          </a:p>
        </p:txBody>
      </p:sp>
      <p:pic>
        <p:nvPicPr>
          <p:cNvPr id="5" name="Picture 4" descr="monte_carlo.png"/>
          <p:cNvPicPr>
            <a:picLocks noChangeAspect="1"/>
          </p:cNvPicPr>
          <p:nvPr/>
        </p:nvPicPr>
        <p:blipFill>
          <a:blip r:embed="rId2"/>
          <a:stretch>
            <a:fillRect/>
          </a:stretch>
        </p:blipFill>
        <p:spPr>
          <a:xfrm>
            <a:off x="5303520" y="1143000"/>
            <a:ext cx="6583680" cy="3364992"/>
          </a:xfrm>
          <a:prstGeom prst="rect">
            <a:avLst/>
          </a:prstGeom>
        </p:spPr>
      </p:pic>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9/14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Outside the sample the margins get thinner</a:t>
            </a:r>
          </a:p>
        </p:txBody>
      </p:sp>
      <p:sp>
        <p:nvSpPr>
          <p:cNvPr id="4" name="TextBox 3"/>
          <p:cNvSpPr txBox="1"/>
          <p:nvPr/>
        </p:nvSpPr>
        <p:spPr>
          <a:xfrm>
            <a:off x="502920" y="1143000"/>
            <a:ext cx="4572000" cy="4754880"/>
          </a:xfrm>
          <a:prstGeom prst="rect">
            <a:avLst/>
          </a:prstGeom>
          <a:noFill/>
        </p:spPr>
        <p:txBody>
          <a:bodyPr wrap="square">
            <a:spAutoFit/>
          </a:bodyPr>
          <a:lstStyle/>
          <a:p>
            <a:pPr>
              <a:spcAft>
                <a:spcPts val="800"/>
              </a:spcAft>
            </a:pPr>
            <a:r>
              <a:rPr sz="1500" b="0">
                <a:solidFill>
                  <a:srgbClr val="0B0B0B"/>
                </a:solidFill>
                <a:latin typeface="Segoe UI"/>
              </a:rPr>
              <a:t>• Real churn is far below the sample's 27%</a:t>
            </a:r>
          </a:p>
          <a:p>
            <a:pPr>
              <a:spcAft>
                <a:spcPts val="800"/>
              </a:spcAft>
            </a:pPr>
            <a:r>
              <a:rPr sz="1500" b="0">
                <a:solidFill>
                  <a:srgbClr val="0B0B0B"/>
                </a:solidFill>
                <a:latin typeface="Segoe UI"/>
              </a:rPr>
              <a:t>• At 15% churn only 7% of customers are worth this offer</a:t>
            </a:r>
          </a:p>
          <a:p>
            <a:pPr>
              <a:spcAft>
                <a:spcPts val="800"/>
              </a:spcAft>
            </a:pPr>
            <a:r>
              <a:rPr sz="1500" b="0">
                <a:solidFill>
                  <a:srgbClr val="0B0B0B"/>
                </a:solidFill>
                <a:latin typeface="Segoe UI"/>
              </a:rPr>
              <a:t>• Vietnamese prices: small bills but SMS contact keeps 18% worth an offer</a:t>
            </a:r>
          </a:p>
          <a:p>
            <a:pPr>
              <a:spcAft>
                <a:spcPts val="800"/>
              </a:spcAft>
            </a:pPr>
            <a:r>
              <a:rPr sz="1500" b="0">
                <a:solidFill>
                  <a:srgbClr val="0B0B0B"/>
                </a:solidFill>
                <a:latin typeface="Segoe UI"/>
              </a:rPr>
              <a:t>• Lower churn needs larger pilots; rebuild the model on our own data</a:t>
            </a:r>
          </a:p>
        </p:txBody>
      </p:sp>
      <p:pic>
        <p:nvPicPr>
          <p:cNvPr id="5" name="Picture 4" descr="stress_test.png"/>
          <p:cNvPicPr>
            <a:picLocks noChangeAspect="1"/>
          </p:cNvPicPr>
          <p:nvPr/>
        </p:nvPicPr>
        <p:blipFill>
          <a:blip r:embed="rId2"/>
          <a:stretch>
            <a:fillRect/>
          </a:stretch>
        </p:blipFill>
        <p:spPr>
          <a:xfrm>
            <a:off x="5303520" y="1143000"/>
            <a:ext cx="6583680" cy="2753175"/>
          </a:xfrm>
          <a:prstGeom prst="rect">
            <a:avLst/>
          </a:prstGeom>
        </p:spPr>
      </p:pic>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10/14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Fairness, experience and compliance are managed</a:t>
            </a:r>
          </a:p>
        </p:txBody>
      </p:sp>
      <p:sp>
        <p:nvSpPr>
          <p:cNvPr id="4" name="TextBox 3"/>
          <p:cNvSpPr txBox="1"/>
          <p:nvPr/>
        </p:nvSpPr>
        <p:spPr>
          <a:xfrm>
            <a:off x="502920" y="1143000"/>
            <a:ext cx="4572000" cy="4754880"/>
          </a:xfrm>
          <a:prstGeom prst="rect">
            <a:avLst/>
          </a:prstGeom>
          <a:noFill/>
        </p:spPr>
        <p:txBody>
          <a:bodyPr wrap="square">
            <a:spAutoFit/>
          </a:bodyPr>
          <a:lstStyle/>
          <a:p>
            <a:pPr>
              <a:spcAft>
                <a:spcPts val="800"/>
              </a:spcAft>
            </a:pPr>
            <a:r>
              <a:rPr sz="1500" b="0">
                <a:solidFill>
                  <a:srgbClr val="0B0B0B"/>
                </a:solidFill>
                <a:latin typeface="Segoe UI"/>
              </a:rPr>
              <a:t>• Seniors contacted 3.3x as often as others (2.6x under today's rule)</a:t>
            </a:r>
          </a:p>
          <a:p>
            <a:pPr>
              <a:spcAft>
                <a:spcPts val="800"/>
              </a:spcAft>
            </a:pPr>
            <a:r>
              <a:rPr sz="1500" b="0">
                <a:solidFill>
                  <a:srgbClr val="0B0B0B"/>
                </a:solidFill>
                <a:latin typeface="Segoe UI"/>
              </a:rPr>
              <a:t>• 1.7x after adjusting for risk: reviewed with Legal/DPO before each wave</a:t>
            </a:r>
          </a:p>
          <a:p>
            <a:pPr>
              <a:spcAft>
                <a:spcPts val="800"/>
              </a:spcAft>
            </a:pPr>
            <a:r>
              <a:rPr sz="1500" b="0">
                <a:solidFill>
                  <a:srgbClr val="0B0B0B"/>
                </a:solidFill>
                <a:latin typeface="Segoe UI"/>
              </a:rPr>
              <a:t>• Age and gender are not model inputs; every wave is audited</a:t>
            </a:r>
          </a:p>
          <a:p>
            <a:pPr>
              <a:spcAft>
                <a:spcPts val="800"/>
              </a:spcAft>
            </a:pPr>
            <a:r>
              <a:rPr sz="1500" b="0">
                <a:solidFill>
                  <a:srgbClr val="0B0B0B"/>
                </a:solidFill>
                <a:latin typeface="Segoe UI"/>
              </a:rPr>
              <a:t>• Consent, Do-Not-Call checks, contact limits and a data-protection impact assessment</a:t>
            </a:r>
          </a:p>
        </p:txBody>
      </p:sp>
      <p:pic>
        <p:nvPicPr>
          <p:cNvPr id="5" name="Picture 4" descr="fairness.png"/>
          <p:cNvPicPr>
            <a:picLocks noChangeAspect="1"/>
          </p:cNvPicPr>
          <p:nvPr/>
        </p:nvPicPr>
        <p:blipFill>
          <a:blip r:embed="rId2"/>
          <a:stretch>
            <a:fillRect/>
          </a:stretch>
        </p:blipFill>
        <p:spPr>
          <a:xfrm>
            <a:off x="5303520" y="1143000"/>
            <a:ext cx="6583680" cy="2779776"/>
          </a:xfrm>
          <a:prstGeom prst="rect">
            <a:avLst/>
          </a:prstGeom>
        </p:spPr>
      </p:pic>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11/14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The pilot measures what we assumed</a:t>
            </a:r>
          </a:p>
        </p:txBody>
      </p:sp>
      <p:sp>
        <p:nvSpPr>
          <p:cNvPr id="4" name="TextBox 3"/>
          <p:cNvSpPr txBox="1"/>
          <p:nvPr/>
        </p:nvSpPr>
        <p:spPr>
          <a:xfrm>
            <a:off x="502920" y="1143000"/>
            <a:ext cx="11155680" cy="4754880"/>
          </a:xfrm>
          <a:prstGeom prst="rect">
            <a:avLst/>
          </a:prstGeom>
          <a:noFill/>
        </p:spPr>
        <p:txBody>
          <a:bodyPr wrap="square">
            <a:spAutoFit/>
          </a:bodyPr>
          <a:lstStyle/>
          <a:p>
            <a:pPr>
              <a:spcAft>
                <a:spcPts val="800"/>
              </a:spcAft>
            </a:pPr>
            <a:r>
              <a:rPr sz="1800" b="0">
                <a:solidFill>
                  <a:srgbClr val="0B0B0B"/>
                </a:solidFill>
                <a:latin typeface="Segoe UI"/>
              </a:rPr>
              <a:t>• 1,620 customers: 810 offered, 810 held out at random</a:t>
            </a:r>
          </a:p>
          <a:p>
            <a:pPr>
              <a:spcAft>
                <a:spcPts val="800"/>
              </a:spcAft>
            </a:pPr>
            <a:r>
              <a:rPr sz="1800" b="0">
                <a:solidFill>
                  <a:srgbClr val="0B0B0B"/>
                </a:solidFill>
                <a:latin typeface="Segoe UI"/>
              </a:rPr>
              <a:t>• Save rate = 1 - churn of offered / churn of held out, after 90 days</a:t>
            </a:r>
          </a:p>
          <a:p>
            <a:pPr>
              <a:spcAft>
                <a:spcPts val="800"/>
              </a:spcAft>
            </a:pPr>
            <a:r>
              <a:rPr sz="1800" b="0">
                <a:solidFill>
                  <a:srgbClr val="0B0B0B"/>
                </a:solidFill>
                <a:latin typeface="Segoe UI"/>
              </a:rPr>
              <a:t>• One wave detects a save rate of about 12%; break-even is 13.8%</a:t>
            </a:r>
          </a:p>
          <a:p>
            <a:pPr>
              <a:spcAft>
                <a:spcPts val="800"/>
              </a:spcAft>
            </a:pPr>
            <a:r>
              <a:rPr sz="1800" b="0">
                <a:solidFill>
                  <a:srgbClr val="0B0B0B"/>
                </a:solidFill>
                <a:latin typeface="Segoe UI"/>
              </a:rPr>
              <a:t>• Cost about $22,875; expected net value of the offered half $10,363</a:t>
            </a:r>
          </a:p>
          <a:p>
            <a:pPr>
              <a:spcAft>
                <a:spcPts val="800"/>
              </a:spcAft>
            </a:pPr>
            <a:r>
              <a:rPr sz="1800" b="0">
                <a:solidFill>
                  <a:srgbClr val="0B0B0B"/>
                </a:solidFill>
                <a:latin typeface="Segoe UI"/>
              </a:rPr>
              <a:t>• Decision about 19 weeks after approval: set-up, outcome window, read-out</a:t>
            </a:r>
          </a:p>
        </p:txBody>
      </p:sp>
      <p:sp>
        <p:nvSpPr>
          <p:cNvPr id="5" name="TextBox 4"/>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12/14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Decisions requested</a:t>
            </a:r>
          </a:p>
        </p:txBody>
      </p:sp>
      <p:sp>
        <p:nvSpPr>
          <p:cNvPr id="4" name="TextBox 3"/>
          <p:cNvSpPr txBox="1"/>
          <p:nvPr/>
        </p:nvSpPr>
        <p:spPr>
          <a:xfrm>
            <a:off x="502920" y="1143000"/>
            <a:ext cx="11155680" cy="4754880"/>
          </a:xfrm>
          <a:prstGeom prst="rect">
            <a:avLst/>
          </a:prstGeom>
          <a:noFill/>
        </p:spPr>
        <p:txBody>
          <a:bodyPr wrap="square">
            <a:spAutoFit/>
          </a:bodyPr>
          <a:lstStyle/>
          <a:p>
            <a:pPr>
              <a:spcAft>
                <a:spcPts val="800"/>
              </a:spcAft>
            </a:pPr>
            <a:r>
              <a:rPr sz="1800" b="0">
                <a:solidFill>
                  <a:srgbClr val="0B0B0B"/>
                </a:solidFill>
                <a:latin typeface="Segoe UI"/>
              </a:rPr>
              <a:t>• Approve one pilot wave: 1,620 customers, half held out, about $22,875</a:t>
            </a:r>
          </a:p>
          <a:p>
            <a:pPr>
              <a:spcAft>
                <a:spcPts val="800"/>
              </a:spcAft>
            </a:pPr>
            <a:r>
              <a:rPr sz="1800" b="0">
                <a:solidFill>
                  <a:srgbClr val="0B0B0B"/>
                </a:solidFill>
                <a:latin typeface="Segoe UI"/>
              </a:rPr>
              <a:t>• Name owners: Retention, Call centre, Finance, Legal/DPO</a:t>
            </a:r>
          </a:p>
          <a:p>
            <a:pPr>
              <a:spcAft>
                <a:spcPts val="800"/>
              </a:spcAft>
            </a:pPr>
            <a:r>
              <a:rPr sz="1800" b="0">
                <a:solidFill>
                  <a:srgbClr val="0B0B0B"/>
                </a:solidFill>
                <a:latin typeface="Segoe UI"/>
              </a:rPr>
              <a:t>• Agree the rule now: go if significant and at least 13.8%; stop if clearly below</a:t>
            </a:r>
          </a:p>
          <a:p>
            <a:pPr>
              <a:spcAft>
                <a:spcPts val="800"/>
              </a:spcAft>
            </a:pPr>
            <a:r>
              <a:rPr sz="1800" b="0">
                <a:solidFill>
                  <a:srgbClr val="0B0B0B"/>
                </a:solidFill>
                <a:latin typeface="Segoe UI"/>
              </a:rPr>
              <a:t>• Otherwise extend, at most 2 more waves</a:t>
            </a:r>
          </a:p>
        </p:txBody>
      </p:sp>
      <p:sp>
        <p:nvSpPr>
          <p:cNvPr id="5" name="TextBox 4"/>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13/14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Live demo: the dashboard</a:t>
            </a:r>
          </a:p>
        </p:txBody>
      </p:sp>
      <p:sp>
        <p:nvSpPr>
          <p:cNvPr id="4" name="TextBox 3"/>
          <p:cNvSpPr txBox="1"/>
          <p:nvPr/>
        </p:nvSpPr>
        <p:spPr>
          <a:xfrm>
            <a:off x="502920" y="1143000"/>
            <a:ext cx="11155680" cy="4754880"/>
          </a:xfrm>
          <a:prstGeom prst="rect">
            <a:avLst/>
          </a:prstGeom>
          <a:noFill/>
        </p:spPr>
        <p:txBody>
          <a:bodyPr wrap="square">
            <a:spAutoFit/>
          </a:bodyPr>
          <a:lstStyle/>
          <a:p>
            <a:pPr>
              <a:spcAft>
                <a:spcPts val="800"/>
              </a:spcAft>
            </a:pPr>
            <a:r>
              <a:rPr sz="1800" b="0">
                <a:solidFill>
                  <a:srgbClr val="0B0B0B"/>
                </a:solidFill>
                <a:latin typeface="Segoe UI"/>
              </a:rPr>
              <a:t>• Decision page: KPIs, who gets an offer, action list and export</a:t>
            </a:r>
          </a:p>
          <a:p>
            <a:pPr>
              <a:spcAft>
                <a:spcPts val="800"/>
              </a:spcAft>
            </a:pPr>
            <a:r>
              <a:rPr sz="1800" b="0">
                <a:solidFill>
                  <a:srgbClr val="0B0B0B"/>
                </a:solidFill>
                <a:latin typeface="Segoe UI"/>
              </a:rPr>
              <a:t>• Assumptions page: change the save rate and watch the chance of a loss move</a:t>
            </a:r>
          </a:p>
          <a:p>
            <a:pPr>
              <a:spcAft>
                <a:spcPts val="800"/>
              </a:spcAft>
            </a:pPr>
            <a:r>
              <a:rPr sz="1800" b="0">
                <a:solidFill>
                  <a:srgbClr val="0B0B0B"/>
                </a:solidFill>
                <a:latin typeface="Segoe UI"/>
              </a:rPr>
              <a:t>• Model evidence: odds ratios and the points scorecard</a:t>
            </a:r>
          </a:p>
        </p:txBody>
      </p:sp>
      <p:sp>
        <p:nvSpPr>
          <p:cNvPr id="5" name="TextBox 4"/>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14/14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